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90" r:id="rId3"/>
    <p:sldId id="272" r:id="rId4"/>
    <p:sldId id="297" r:id="rId5"/>
    <p:sldId id="300" r:id="rId6"/>
    <p:sldId id="298" r:id="rId7"/>
    <p:sldId id="301" r:id="rId8"/>
    <p:sldId id="302" r:id="rId9"/>
    <p:sldId id="313" r:id="rId10"/>
    <p:sldId id="315" r:id="rId11"/>
    <p:sldId id="314" r:id="rId12"/>
    <p:sldId id="279" r:id="rId13"/>
    <p:sldId id="261" r:id="rId14"/>
    <p:sldId id="275" r:id="rId15"/>
    <p:sldId id="276" r:id="rId16"/>
    <p:sldId id="274" r:id="rId17"/>
    <p:sldId id="266" r:id="rId18"/>
    <p:sldId id="267" r:id="rId19"/>
    <p:sldId id="280" r:id="rId20"/>
    <p:sldId id="281" r:id="rId21"/>
    <p:sldId id="282" r:id="rId22"/>
    <p:sldId id="283" r:id="rId23"/>
    <p:sldId id="269" r:id="rId24"/>
    <p:sldId id="296" r:id="rId25"/>
    <p:sldId id="264" r:id="rId26"/>
    <p:sldId id="303" r:id="rId27"/>
    <p:sldId id="304" r:id="rId28"/>
    <p:sldId id="305" r:id="rId29"/>
    <p:sldId id="277" r:id="rId30"/>
    <p:sldId id="306" r:id="rId31"/>
    <p:sldId id="307" r:id="rId32"/>
    <p:sldId id="278" r:id="rId33"/>
    <p:sldId id="294" r:id="rId34"/>
    <p:sldId id="295" r:id="rId35"/>
    <p:sldId id="263" r:id="rId36"/>
    <p:sldId id="291" r:id="rId37"/>
    <p:sldId id="292" r:id="rId38"/>
    <p:sldId id="293" r:id="rId39"/>
    <p:sldId id="308" r:id="rId40"/>
    <p:sldId id="311" r:id="rId41"/>
    <p:sldId id="312" r:id="rId42"/>
    <p:sldId id="309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60EC"/>
    <a:srgbClr val="AD33B2"/>
    <a:srgbClr val="C0FF74"/>
    <a:srgbClr val="D940DF"/>
    <a:srgbClr val="F7FFDB"/>
    <a:srgbClr val="E3FFBA"/>
    <a:srgbClr val="D8FF93"/>
    <a:srgbClr val="F3FFEC"/>
    <a:srgbClr val="DEFFC3"/>
    <a:srgbClr val="D1F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17" autoAdjust="0"/>
  </p:normalViewPr>
  <p:slideViewPr>
    <p:cSldViewPr snapToGrid="0" snapToObjects="1">
      <p:cViewPr varScale="1">
        <p:scale>
          <a:sx n="80" d="100"/>
          <a:sy n="80" d="100"/>
        </p:scale>
        <p:origin x="-192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6" d="100"/>
          <a:sy n="76" d="100"/>
        </p:scale>
        <p:origin x="-341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interSettings" Target="printerSettings/printerSettings1.bin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Untitled:Users:yichao:Project:Anomaly_Detection:document:infocom13_slides_figur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Equipment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Sheet4!$B$9:$B$57</c:f>
              <c:numCache>
                <c:formatCode>General</c:formatCode>
                <c:ptCount val="49"/>
                <c:pt idx="0">
                  <c:v>1.0</c:v>
                </c:pt>
                <c:pt idx="7">
                  <c:v>2.0</c:v>
                </c:pt>
                <c:pt idx="14">
                  <c:v>3.0</c:v>
                </c:pt>
                <c:pt idx="21">
                  <c:v>4.0</c:v>
                </c:pt>
                <c:pt idx="28">
                  <c:v>5.0</c:v>
                </c:pt>
                <c:pt idx="35">
                  <c:v>6.0</c:v>
                </c:pt>
                <c:pt idx="42">
                  <c:v>7.0</c:v>
                </c:pt>
              </c:numCache>
            </c:numRef>
          </c:cat>
          <c:val>
            <c:numRef>
              <c:f>Sheet4!$S$9:$S$57</c:f>
              <c:numCache>
                <c:formatCode>General</c:formatCode>
                <c:ptCount val="49"/>
                <c:pt idx="0">
                  <c:v>87678.0</c:v>
                </c:pt>
                <c:pt idx="1">
                  <c:v>82188.0</c:v>
                </c:pt>
                <c:pt idx="2">
                  <c:v>80008.0</c:v>
                </c:pt>
                <c:pt idx="3">
                  <c:v>79516.0</c:v>
                </c:pt>
                <c:pt idx="4">
                  <c:v>77524.0</c:v>
                </c:pt>
                <c:pt idx="5">
                  <c:v>49593.0</c:v>
                </c:pt>
                <c:pt idx="6">
                  <c:v>37647.0</c:v>
                </c:pt>
                <c:pt idx="7">
                  <c:v>86285.0</c:v>
                </c:pt>
                <c:pt idx="8">
                  <c:v>83716.0</c:v>
                </c:pt>
                <c:pt idx="9">
                  <c:v>70067.0</c:v>
                </c:pt>
                <c:pt idx="10">
                  <c:v>78802.0</c:v>
                </c:pt>
                <c:pt idx="11">
                  <c:v>74177.0</c:v>
                </c:pt>
                <c:pt idx="12">
                  <c:v>46956.0</c:v>
                </c:pt>
                <c:pt idx="13">
                  <c:v>35150.0</c:v>
                </c:pt>
                <c:pt idx="14">
                  <c:v>89802.0</c:v>
                </c:pt>
                <c:pt idx="15">
                  <c:v>81737.0</c:v>
                </c:pt>
                <c:pt idx="16">
                  <c:v>79491.0</c:v>
                </c:pt>
                <c:pt idx="17">
                  <c:v>77543.0</c:v>
                </c:pt>
                <c:pt idx="18">
                  <c:v>76314.0</c:v>
                </c:pt>
                <c:pt idx="19">
                  <c:v>46616.0</c:v>
                </c:pt>
                <c:pt idx="20">
                  <c:v>31866.0</c:v>
                </c:pt>
                <c:pt idx="21">
                  <c:v>47539.0</c:v>
                </c:pt>
                <c:pt idx="22">
                  <c:v>90257.0</c:v>
                </c:pt>
                <c:pt idx="23">
                  <c:v>85060.0</c:v>
                </c:pt>
                <c:pt idx="24">
                  <c:v>82907.0</c:v>
                </c:pt>
                <c:pt idx="25">
                  <c:v>78025.0</c:v>
                </c:pt>
                <c:pt idx="26">
                  <c:v>47908.0</c:v>
                </c:pt>
                <c:pt idx="27">
                  <c:v>35872.0</c:v>
                </c:pt>
                <c:pt idx="28">
                  <c:v>91083.0</c:v>
                </c:pt>
                <c:pt idx="29">
                  <c:v>84975.0</c:v>
                </c:pt>
                <c:pt idx="30">
                  <c:v>83089.0</c:v>
                </c:pt>
                <c:pt idx="31">
                  <c:v>80811.0</c:v>
                </c:pt>
                <c:pt idx="32">
                  <c:v>77947.0</c:v>
                </c:pt>
                <c:pt idx="33">
                  <c:v>49859.0</c:v>
                </c:pt>
                <c:pt idx="34">
                  <c:v>29866.0</c:v>
                </c:pt>
                <c:pt idx="35">
                  <c:v>92819.0</c:v>
                </c:pt>
                <c:pt idx="36">
                  <c:v>84783.0</c:v>
                </c:pt>
                <c:pt idx="37">
                  <c:v>82627.0</c:v>
                </c:pt>
                <c:pt idx="38">
                  <c:v>81287.0</c:v>
                </c:pt>
                <c:pt idx="39">
                  <c:v>79398.0</c:v>
                </c:pt>
                <c:pt idx="40">
                  <c:v>49317.0</c:v>
                </c:pt>
                <c:pt idx="41">
                  <c:v>35572.0</c:v>
                </c:pt>
                <c:pt idx="42">
                  <c:v>93337.0</c:v>
                </c:pt>
                <c:pt idx="43">
                  <c:v>85946.0</c:v>
                </c:pt>
                <c:pt idx="44">
                  <c:v>82690.0</c:v>
                </c:pt>
                <c:pt idx="45">
                  <c:v>79864.0</c:v>
                </c:pt>
                <c:pt idx="46">
                  <c:v>77435.0</c:v>
                </c:pt>
                <c:pt idx="47">
                  <c:v>47290.0</c:v>
                </c:pt>
                <c:pt idx="48">
                  <c:v>33654.0</c:v>
                </c:pt>
              </c:numCache>
            </c:numRef>
          </c:val>
          <c:smooth val="0"/>
        </c:ser>
        <c:ser>
          <c:idx val="1"/>
          <c:order val="1"/>
          <c:tx>
            <c:v>Call Disconnected</c:v>
          </c:tx>
          <c:spPr>
            <a:ln>
              <a:solidFill>
                <a:srgbClr val="C0FF74"/>
              </a:solidFill>
            </a:ln>
          </c:spPr>
          <c:marker>
            <c:symbol val="none"/>
          </c:marker>
          <c:val>
            <c:numRef>
              <c:f>Sheet4!$BM$9:$BM$57</c:f>
              <c:numCache>
                <c:formatCode>General</c:formatCode>
                <c:ptCount val="49"/>
                <c:pt idx="0">
                  <c:v>21171.0</c:v>
                </c:pt>
                <c:pt idx="1">
                  <c:v>20510.0</c:v>
                </c:pt>
                <c:pt idx="2">
                  <c:v>19013.0</c:v>
                </c:pt>
                <c:pt idx="3">
                  <c:v>19309.0</c:v>
                </c:pt>
                <c:pt idx="4">
                  <c:v>20057.0</c:v>
                </c:pt>
                <c:pt idx="5">
                  <c:v>11767.0</c:v>
                </c:pt>
                <c:pt idx="6">
                  <c:v>8838.0</c:v>
                </c:pt>
                <c:pt idx="7">
                  <c:v>22405.0</c:v>
                </c:pt>
                <c:pt idx="8">
                  <c:v>20565.0</c:v>
                </c:pt>
                <c:pt idx="9">
                  <c:v>17564.0</c:v>
                </c:pt>
                <c:pt idx="10">
                  <c:v>18546.0</c:v>
                </c:pt>
                <c:pt idx="11">
                  <c:v>18587.0</c:v>
                </c:pt>
                <c:pt idx="12">
                  <c:v>11602.0</c:v>
                </c:pt>
                <c:pt idx="13">
                  <c:v>8504.0</c:v>
                </c:pt>
                <c:pt idx="14">
                  <c:v>22135.0</c:v>
                </c:pt>
                <c:pt idx="15">
                  <c:v>20744.0</c:v>
                </c:pt>
                <c:pt idx="16">
                  <c:v>19931.0</c:v>
                </c:pt>
                <c:pt idx="17">
                  <c:v>19251.0</c:v>
                </c:pt>
                <c:pt idx="18">
                  <c:v>19147.0</c:v>
                </c:pt>
                <c:pt idx="19">
                  <c:v>11153.0</c:v>
                </c:pt>
                <c:pt idx="20">
                  <c:v>7919.0</c:v>
                </c:pt>
                <c:pt idx="21">
                  <c:v>11421.0</c:v>
                </c:pt>
                <c:pt idx="22">
                  <c:v>22175.0</c:v>
                </c:pt>
                <c:pt idx="23">
                  <c:v>21873.0</c:v>
                </c:pt>
                <c:pt idx="24">
                  <c:v>20721.0</c:v>
                </c:pt>
                <c:pt idx="25">
                  <c:v>20080.0</c:v>
                </c:pt>
                <c:pt idx="26">
                  <c:v>12156.0</c:v>
                </c:pt>
                <c:pt idx="27">
                  <c:v>8814.0</c:v>
                </c:pt>
                <c:pt idx="28">
                  <c:v>22097.0</c:v>
                </c:pt>
                <c:pt idx="29">
                  <c:v>21220.0</c:v>
                </c:pt>
                <c:pt idx="30">
                  <c:v>20321.0</c:v>
                </c:pt>
                <c:pt idx="31">
                  <c:v>20002.0</c:v>
                </c:pt>
                <c:pt idx="32">
                  <c:v>19887.0</c:v>
                </c:pt>
                <c:pt idx="33">
                  <c:v>12245.0</c:v>
                </c:pt>
                <c:pt idx="34">
                  <c:v>7214.0</c:v>
                </c:pt>
                <c:pt idx="35">
                  <c:v>21816.0</c:v>
                </c:pt>
                <c:pt idx="36">
                  <c:v>20807.0</c:v>
                </c:pt>
                <c:pt idx="37">
                  <c:v>20266.0</c:v>
                </c:pt>
                <c:pt idx="38">
                  <c:v>19389.0</c:v>
                </c:pt>
                <c:pt idx="39">
                  <c:v>19351.0</c:v>
                </c:pt>
                <c:pt idx="40">
                  <c:v>12014.0</c:v>
                </c:pt>
                <c:pt idx="41">
                  <c:v>8835.0</c:v>
                </c:pt>
                <c:pt idx="42">
                  <c:v>22233.0</c:v>
                </c:pt>
                <c:pt idx="43">
                  <c:v>21342.0</c:v>
                </c:pt>
                <c:pt idx="44">
                  <c:v>20634.0</c:v>
                </c:pt>
                <c:pt idx="45">
                  <c:v>19877.0</c:v>
                </c:pt>
                <c:pt idx="46">
                  <c:v>19944.0</c:v>
                </c:pt>
                <c:pt idx="47">
                  <c:v>12133.0</c:v>
                </c:pt>
                <c:pt idx="48">
                  <c:v>8476.0</c:v>
                </c:pt>
              </c:numCache>
            </c:numRef>
          </c:val>
          <c:smooth val="0"/>
        </c:ser>
        <c:ser>
          <c:idx val="2"/>
          <c:order val="2"/>
          <c:tx>
            <c:v>Cannot make calls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val>
            <c:numRef>
              <c:f>Sheet4!$BI$9:$BI$57</c:f>
              <c:numCache>
                <c:formatCode>General</c:formatCode>
                <c:ptCount val="49"/>
                <c:pt idx="0">
                  <c:v>38694.0</c:v>
                </c:pt>
                <c:pt idx="1">
                  <c:v>35398.0</c:v>
                </c:pt>
                <c:pt idx="2">
                  <c:v>33738.0</c:v>
                </c:pt>
                <c:pt idx="3">
                  <c:v>34488.0</c:v>
                </c:pt>
                <c:pt idx="4">
                  <c:v>33636.0</c:v>
                </c:pt>
                <c:pt idx="5">
                  <c:v>22261.0</c:v>
                </c:pt>
                <c:pt idx="6">
                  <c:v>16549.0</c:v>
                </c:pt>
                <c:pt idx="7">
                  <c:v>39968.0</c:v>
                </c:pt>
                <c:pt idx="8">
                  <c:v>37700.0</c:v>
                </c:pt>
                <c:pt idx="9">
                  <c:v>30566.0</c:v>
                </c:pt>
                <c:pt idx="10">
                  <c:v>34916.0</c:v>
                </c:pt>
                <c:pt idx="11">
                  <c:v>32869.0</c:v>
                </c:pt>
                <c:pt idx="12">
                  <c:v>21614.0</c:v>
                </c:pt>
                <c:pt idx="13">
                  <c:v>15437.0</c:v>
                </c:pt>
                <c:pt idx="14">
                  <c:v>39311.0</c:v>
                </c:pt>
                <c:pt idx="15">
                  <c:v>34997.0</c:v>
                </c:pt>
                <c:pt idx="16">
                  <c:v>34263.0</c:v>
                </c:pt>
                <c:pt idx="17">
                  <c:v>33025.0</c:v>
                </c:pt>
                <c:pt idx="18">
                  <c:v>33654.0</c:v>
                </c:pt>
                <c:pt idx="19">
                  <c:v>20563.0</c:v>
                </c:pt>
                <c:pt idx="20">
                  <c:v>13799.0</c:v>
                </c:pt>
                <c:pt idx="21">
                  <c:v>20526.0</c:v>
                </c:pt>
                <c:pt idx="22">
                  <c:v>41091.0</c:v>
                </c:pt>
                <c:pt idx="23">
                  <c:v>38270.0</c:v>
                </c:pt>
                <c:pt idx="24">
                  <c:v>35784.0</c:v>
                </c:pt>
                <c:pt idx="25">
                  <c:v>35713.0</c:v>
                </c:pt>
                <c:pt idx="26">
                  <c:v>21477.0</c:v>
                </c:pt>
                <c:pt idx="27">
                  <c:v>15797.0</c:v>
                </c:pt>
                <c:pt idx="28">
                  <c:v>40944.0</c:v>
                </c:pt>
                <c:pt idx="29">
                  <c:v>36503.0</c:v>
                </c:pt>
                <c:pt idx="30">
                  <c:v>34467.0</c:v>
                </c:pt>
                <c:pt idx="31">
                  <c:v>34175.0</c:v>
                </c:pt>
                <c:pt idx="32">
                  <c:v>34253.0</c:v>
                </c:pt>
                <c:pt idx="33">
                  <c:v>23033.0</c:v>
                </c:pt>
                <c:pt idx="34">
                  <c:v>13252.0</c:v>
                </c:pt>
                <c:pt idx="35">
                  <c:v>42041.0</c:v>
                </c:pt>
                <c:pt idx="36">
                  <c:v>36763.0</c:v>
                </c:pt>
                <c:pt idx="37">
                  <c:v>35404.0</c:v>
                </c:pt>
                <c:pt idx="38">
                  <c:v>34539.0</c:v>
                </c:pt>
                <c:pt idx="39">
                  <c:v>34511.0</c:v>
                </c:pt>
                <c:pt idx="40">
                  <c:v>22424.0</c:v>
                </c:pt>
                <c:pt idx="41">
                  <c:v>15120.0</c:v>
                </c:pt>
                <c:pt idx="42">
                  <c:v>40725.0</c:v>
                </c:pt>
                <c:pt idx="43">
                  <c:v>36639.0</c:v>
                </c:pt>
                <c:pt idx="44">
                  <c:v>34640.0</c:v>
                </c:pt>
                <c:pt idx="45">
                  <c:v>35260.0</c:v>
                </c:pt>
                <c:pt idx="46">
                  <c:v>34822.0</c:v>
                </c:pt>
                <c:pt idx="47">
                  <c:v>22347.0</c:v>
                </c:pt>
                <c:pt idx="48">
                  <c:v>15493.0</c:v>
                </c:pt>
              </c:numCache>
            </c:numRef>
          </c:val>
          <c:smooth val="0"/>
        </c:ser>
        <c:ser>
          <c:idx val="3"/>
          <c:order val="3"/>
          <c:tx>
            <c:v>Educated - How to use</c:v>
          </c:tx>
          <c:spPr>
            <a:ln>
              <a:solidFill>
                <a:srgbClr val="AD33B2"/>
              </a:solidFill>
            </a:ln>
          </c:spPr>
          <c:marker>
            <c:symbol val="none"/>
          </c:marker>
          <c:val>
            <c:numRef>
              <c:f>Sheet4!$FI$9:$FI$57</c:f>
              <c:numCache>
                <c:formatCode>General</c:formatCode>
                <c:ptCount val="49"/>
                <c:pt idx="0">
                  <c:v>12083.0</c:v>
                </c:pt>
                <c:pt idx="1">
                  <c:v>11562.0</c:v>
                </c:pt>
                <c:pt idx="2">
                  <c:v>11290.0</c:v>
                </c:pt>
                <c:pt idx="3">
                  <c:v>11168.0</c:v>
                </c:pt>
                <c:pt idx="4">
                  <c:v>10999.0</c:v>
                </c:pt>
                <c:pt idx="5">
                  <c:v>7375.0</c:v>
                </c:pt>
                <c:pt idx="6">
                  <c:v>5898.0</c:v>
                </c:pt>
                <c:pt idx="7">
                  <c:v>12221.0</c:v>
                </c:pt>
                <c:pt idx="8">
                  <c:v>11676.0</c:v>
                </c:pt>
                <c:pt idx="9">
                  <c:v>9835.0</c:v>
                </c:pt>
                <c:pt idx="10">
                  <c:v>11159.0</c:v>
                </c:pt>
                <c:pt idx="11">
                  <c:v>10518.0</c:v>
                </c:pt>
                <c:pt idx="12">
                  <c:v>6912.0</c:v>
                </c:pt>
                <c:pt idx="13">
                  <c:v>5232.0</c:v>
                </c:pt>
                <c:pt idx="14">
                  <c:v>11878.0</c:v>
                </c:pt>
                <c:pt idx="15">
                  <c:v>11351.0</c:v>
                </c:pt>
                <c:pt idx="16">
                  <c:v>11071.0</c:v>
                </c:pt>
                <c:pt idx="17">
                  <c:v>10872.0</c:v>
                </c:pt>
                <c:pt idx="18">
                  <c:v>10563.0</c:v>
                </c:pt>
                <c:pt idx="19">
                  <c:v>6992.0</c:v>
                </c:pt>
                <c:pt idx="20">
                  <c:v>4956.0</c:v>
                </c:pt>
                <c:pt idx="21">
                  <c:v>6570.0</c:v>
                </c:pt>
                <c:pt idx="22">
                  <c:v>11545.0</c:v>
                </c:pt>
                <c:pt idx="23">
                  <c:v>11376.0</c:v>
                </c:pt>
                <c:pt idx="24">
                  <c:v>11784.0</c:v>
                </c:pt>
                <c:pt idx="25">
                  <c:v>10828.0</c:v>
                </c:pt>
                <c:pt idx="26">
                  <c:v>7201.0</c:v>
                </c:pt>
                <c:pt idx="27">
                  <c:v>5599.0</c:v>
                </c:pt>
                <c:pt idx="28">
                  <c:v>12015.0</c:v>
                </c:pt>
                <c:pt idx="29">
                  <c:v>11799.0</c:v>
                </c:pt>
                <c:pt idx="30">
                  <c:v>11518.0</c:v>
                </c:pt>
                <c:pt idx="31">
                  <c:v>11084.0</c:v>
                </c:pt>
                <c:pt idx="32">
                  <c:v>10734.0</c:v>
                </c:pt>
                <c:pt idx="33">
                  <c:v>7370.0</c:v>
                </c:pt>
                <c:pt idx="34">
                  <c:v>4597.0</c:v>
                </c:pt>
                <c:pt idx="35">
                  <c:v>11530.0</c:v>
                </c:pt>
                <c:pt idx="36">
                  <c:v>11370.0</c:v>
                </c:pt>
                <c:pt idx="37">
                  <c:v>10995.0</c:v>
                </c:pt>
                <c:pt idx="38">
                  <c:v>11014.0</c:v>
                </c:pt>
                <c:pt idx="39">
                  <c:v>10690.0</c:v>
                </c:pt>
                <c:pt idx="40">
                  <c:v>7084.0</c:v>
                </c:pt>
                <c:pt idx="41">
                  <c:v>5351.0</c:v>
                </c:pt>
                <c:pt idx="42">
                  <c:v>11621.0</c:v>
                </c:pt>
                <c:pt idx="43">
                  <c:v>11353.0</c:v>
                </c:pt>
                <c:pt idx="44">
                  <c:v>10911.0</c:v>
                </c:pt>
                <c:pt idx="45">
                  <c:v>11271.0</c:v>
                </c:pt>
                <c:pt idx="46">
                  <c:v>11063.0</c:v>
                </c:pt>
                <c:pt idx="47">
                  <c:v>7077.0</c:v>
                </c:pt>
                <c:pt idx="48">
                  <c:v>5237.0</c:v>
                </c:pt>
              </c:numCache>
            </c:numRef>
          </c:val>
          <c:smooth val="0"/>
        </c:ser>
        <c:ser>
          <c:idx val="4"/>
          <c:order val="4"/>
          <c:tx>
            <c:v>Equipment inquiry</c:v>
          </c:tx>
          <c:marker>
            <c:symbol val="none"/>
          </c:marker>
          <c:val>
            <c:numRef>
              <c:f>Sheet4!$CC$9:$CC$57</c:f>
              <c:numCache>
                <c:formatCode>General</c:formatCode>
                <c:ptCount val="49"/>
                <c:pt idx="0">
                  <c:v>22.0</c:v>
                </c:pt>
                <c:pt idx="1">
                  <c:v>18.0</c:v>
                </c:pt>
                <c:pt idx="2">
                  <c:v>21.0</c:v>
                </c:pt>
                <c:pt idx="3">
                  <c:v>16.0</c:v>
                </c:pt>
                <c:pt idx="4">
                  <c:v>27.0</c:v>
                </c:pt>
                <c:pt idx="5">
                  <c:v>9.0</c:v>
                </c:pt>
                <c:pt idx="6">
                  <c:v>6.0</c:v>
                </c:pt>
                <c:pt idx="7">
                  <c:v>15.0</c:v>
                </c:pt>
                <c:pt idx="8">
                  <c:v>25.0</c:v>
                </c:pt>
                <c:pt idx="9">
                  <c:v>19.0</c:v>
                </c:pt>
                <c:pt idx="10">
                  <c:v>24.0</c:v>
                </c:pt>
                <c:pt idx="11">
                  <c:v>29.0</c:v>
                </c:pt>
                <c:pt idx="12">
                  <c:v>11.0</c:v>
                </c:pt>
                <c:pt idx="13">
                  <c:v>16.0</c:v>
                </c:pt>
                <c:pt idx="14">
                  <c:v>22.0</c:v>
                </c:pt>
                <c:pt idx="15">
                  <c:v>24.0</c:v>
                </c:pt>
                <c:pt idx="16">
                  <c:v>29.0</c:v>
                </c:pt>
                <c:pt idx="17">
                  <c:v>25.0</c:v>
                </c:pt>
                <c:pt idx="18">
                  <c:v>16.0</c:v>
                </c:pt>
                <c:pt idx="19">
                  <c:v>11.0</c:v>
                </c:pt>
                <c:pt idx="20">
                  <c:v>7.0</c:v>
                </c:pt>
                <c:pt idx="21">
                  <c:v>9.0</c:v>
                </c:pt>
                <c:pt idx="22">
                  <c:v>22.0</c:v>
                </c:pt>
                <c:pt idx="23">
                  <c:v>28.0</c:v>
                </c:pt>
                <c:pt idx="24">
                  <c:v>20.0</c:v>
                </c:pt>
                <c:pt idx="25">
                  <c:v>22.0</c:v>
                </c:pt>
                <c:pt idx="26">
                  <c:v>16.0</c:v>
                </c:pt>
                <c:pt idx="27">
                  <c:v>12.0</c:v>
                </c:pt>
                <c:pt idx="28">
                  <c:v>36.0</c:v>
                </c:pt>
                <c:pt idx="29">
                  <c:v>39.0</c:v>
                </c:pt>
                <c:pt idx="30">
                  <c:v>26.0</c:v>
                </c:pt>
                <c:pt idx="31">
                  <c:v>17.0</c:v>
                </c:pt>
                <c:pt idx="32">
                  <c:v>32.0</c:v>
                </c:pt>
                <c:pt idx="33">
                  <c:v>11.0</c:v>
                </c:pt>
                <c:pt idx="34">
                  <c:v>16.0</c:v>
                </c:pt>
                <c:pt idx="35">
                  <c:v>18.0</c:v>
                </c:pt>
                <c:pt idx="36">
                  <c:v>26.0</c:v>
                </c:pt>
                <c:pt idx="37">
                  <c:v>28.0</c:v>
                </c:pt>
                <c:pt idx="38">
                  <c:v>24.0</c:v>
                </c:pt>
                <c:pt idx="39">
                  <c:v>26.0</c:v>
                </c:pt>
                <c:pt idx="40">
                  <c:v>17.0</c:v>
                </c:pt>
                <c:pt idx="41">
                  <c:v>9.0</c:v>
                </c:pt>
                <c:pt idx="42">
                  <c:v>23.0</c:v>
                </c:pt>
                <c:pt idx="43">
                  <c:v>22.0</c:v>
                </c:pt>
                <c:pt idx="44">
                  <c:v>38.0</c:v>
                </c:pt>
                <c:pt idx="45">
                  <c:v>21.0</c:v>
                </c:pt>
                <c:pt idx="46">
                  <c:v>28.0</c:v>
                </c:pt>
                <c:pt idx="47">
                  <c:v>16.0</c:v>
                </c:pt>
                <c:pt idx="48">
                  <c:v>13.0</c:v>
                </c:pt>
              </c:numCache>
            </c:numRef>
          </c:val>
          <c:smooth val="0"/>
        </c:ser>
        <c:ser>
          <c:idx val="5"/>
          <c:order val="5"/>
          <c:tx>
            <c:v>Feature</c:v>
          </c:tx>
          <c:spPr>
            <a:ln>
              <a:solidFill>
                <a:srgbClr val="FF6600"/>
              </a:solidFill>
            </a:ln>
          </c:spPr>
          <c:marker>
            <c:symbol val="none"/>
          </c:marker>
          <c:val>
            <c:numRef>
              <c:f>Sheet4!$W$9:$W$57</c:f>
              <c:numCache>
                <c:formatCode>General</c:formatCode>
                <c:ptCount val="49"/>
                <c:pt idx="0">
                  <c:v>31057.0</c:v>
                </c:pt>
                <c:pt idx="1">
                  <c:v>28045.0</c:v>
                </c:pt>
                <c:pt idx="2">
                  <c:v>28295.0</c:v>
                </c:pt>
                <c:pt idx="3">
                  <c:v>27094.0</c:v>
                </c:pt>
                <c:pt idx="4">
                  <c:v>26907.0</c:v>
                </c:pt>
                <c:pt idx="5">
                  <c:v>18327.0</c:v>
                </c:pt>
                <c:pt idx="6">
                  <c:v>12370.0</c:v>
                </c:pt>
                <c:pt idx="7">
                  <c:v>31512.0</c:v>
                </c:pt>
                <c:pt idx="8">
                  <c:v>28367.0</c:v>
                </c:pt>
                <c:pt idx="9">
                  <c:v>25670.0</c:v>
                </c:pt>
                <c:pt idx="10">
                  <c:v>25873.0</c:v>
                </c:pt>
                <c:pt idx="11">
                  <c:v>25110.0</c:v>
                </c:pt>
                <c:pt idx="12">
                  <c:v>16924.0</c:v>
                </c:pt>
                <c:pt idx="13">
                  <c:v>12735.0</c:v>
                </c:pt>
                <c:pt idx="14">
                  <c:v>32053.0</c:v>
                </c:pt>
                <c:pt idx="15">
                  <c:v>29322.0</c:v>
                </c:pt>
                <c:pt idx="16">
                  <c:v>28331.0</c:v>
                </c:pt>
                <c:pt idx="17">
                  <c:v>27758.0</c:v>
                </c:pt>
                <c:pt idx="18">
                  <c:v>26200.0</c:v>
                </c:pt>
                <c:pt idx="19">
                  <c:v>16982.0</c:v>
                </c:pt>
                <c:pt idx="20">
                  <c:v>11339.0</c:v>
                </c:pt>
                <c:pt idx="21">
                  <c:v>16956.0</c:v>
                </c:pt>
                <c:pt idx="22">
                  <c:v>31990.0</c:v>
                </c:pt>
                <c:pt idx="23">
                  <c:v>29709.0</c:v>
                </c:pt>
                <c:pt idx="24">
                  <c:v>28258.0</c:v>
                </c:pt>
                <c:pt idx="25">
                  <c:v>26664.0</c:v>
                </c:pt>
                <c:pt idx="26">
                  <c:v>17318.0</c:v>
                </c:pt>
                <c:pt idx="27">
                  <c:v>11862.0</c:v>
                </c:pt>
                <c:pt idx="28">
                  <c:v>30624.0</c:v>
                </c:pt>
                <c:pt idx="29">
                  <c:v>28194.0</c:v>
                </c:pt>
                <c:pt idx="30">
                  <c:v>27785.0</c:v>
                </c:pt>
                <c:pt idx="31">
                  <c:v>26970.0</c:v>
                </c:pt>
                <c:pt idx="32">
                  <c:v>25951.0</c:v>
                </c:pt>
                <c:pt idx="33">
                  <c:v>18463.0</c:v>
                </c:pt>
                <c:pt idx="34">
                  <c:v>10539.0</c:v>
                </c:pt>
                <c:pt idx="35">
                  <c:v>30604.0</c:v>
                </c:pt>
                <c:pt idx="36">
                  <c:v>28636.0</c:v>
                </c:pt>
                <c:pt idx="37">
                  <c:v>28043.0</c:v>
                </c:pt>
                <c:pt idx="38">
                  <c:v>26989.0</c:v>
                </c:pt>
                <c:pt idx="39">
                  <c:v>26632.0</c:v>
                </c:pt>
                <c:pt idx="40">
                  <c:v>17215.0</c:v>
                </c:pt>
                <c:pt idx="41">
                  <c:v>11161.0</c:v>
                </c:pt>
                <c:pt idx="42">
                  <c:v>32893.0</c:v>
                </c:pt>
                <c:pt idx="43">
                  <c:v>29645.0</c:v>
                </c:pt>
                <c:pt idx="44">
                  <c:v>29269.0</c:v>
                </c:pt>
                <c:pt idx="45">
                  <c:v>26858.0</c:v>
                </c:pt>
                <c:pt idx="46">
                  <c:v>25630.0</c:v>
                </c:pt>
                <c:pt idx="47">
                  <c:v>16866.0</c:v>
                </c:pt>
                <c:pt idx="48">
                  <c:v>11500.0</c:v>
                </c:pt>
              </c:numCache>
            </c:numRef>
          </c:val>
          <c:smooth val="0"/>
        </c:ser>
        <c:ser>
          <c:idx val="6"/>
          <c:order val="6"/>
          <c:tx>
            <c:v>Service Plan</c:v>
          </c:tx>
          <c:spPr>
            <a:ln>
              <a:solidFill>
                <a:srgbClr val="660066"/>
              </a:solidFill>
            </a:ln>
          </c:spPr>
          <c:marker>
            <c:symbol val="none"/>
          </c:marker>
          <c:val>
            <c:numRef>
              <c:f>Sheet4!$AA$9:$AA$57</c:f>
              <c:numCache>
                <c:formatCode>General</c:formatCode>
                <c:ptCount val="49"/>
                <c:pt idx="0">
                  <c:v>5823.0</c:v>
                </c:pt>
                <c:pt idx="1">
                  <c:v>5135.0</c:v>
                </c:pt>
                <c:pt idx="2">
                  <c:v>4860.0</c:v>
                </c:pt>
                <c:pt idx="3">
                  <c:v>4360.0</c:v>
                </c:pt>
                <c:pt idx="4">
                  <c:v>5094.0</c:v>
                </c:pt>
                <c:pt idx="5">
                  <c:v>3227.0</c:v>
                </c:pt>
                <c:pt idx="6">
                  <c:v>1584.0</c:v>
                </c:pt>
                <c:pt idx="7">
                  <c:v>5129.0</c:v>
                </c:pt>
                <c:pt idx="8">
                  <c:v>5450.0</c:v>
                </c:pt>
                <c:pt idx="9">
                  <c:v>4505.0</c:v>
                </c:pt>
                <c:pt idx="10">
                  <c:v>4506.0</c:v>
                </c:pt>
                <c:pt idx="11">
                  <c:v>4402.0</c:v>
                </c:pt>
                <c:pt idx="12">
                  <c:v>2821.0</c:v>
                </c:pt>
                <c:pt idx="13">
                  <c:v>1554.0</c:v>
                </c:pt>
                <c:pt idx="14">
                  <c:v>5730.0</c:v>
                </c:pt>
                <c:pt idx="15">
                  <c:v>5062.0</c:v>
                </c:pt>
                <c:pt idx="16">
                  <c:v>5002.0</c:v>
                </c:pt>
                <c:pt idx="17">
                  <c:v>5022.0</c:v>
                </c:pt>
                <c:pt idx="18">
                  <c:v>4791.0</c:v>
                </c:pt>
                <c:pt idx="19">
                  <c:v>2845.0</c:v>
                </c:pt>
                <c:pt idx="20">
                  <c:v>1830.0</c:v>
                </c:pt>
                <c:pt idx="21">
                  <c:v>2558.0</c:v>
                </c:pt>
                <c:pt idx="22">
                  <c:v>5457.0</c:v>
                </c:pt>
                <c:pt idx="23">
                  <c:v>5347.0</c:v>
                </c:pt>
                <c:pt idx="24">
                  <c:v>5008.0</c:v>
                </c:pt>
                <c:pt idx="25">
                  <c:v>5251.0</c:v>
                </c:pt>
                <c:pt idx="26">
                  <c:v>3266.0</c:v>
                </c:pt>
                <c:pt idx="27">
                  <c:v>1794.0</c:v>
                </c:pt>
                <c:pt idx="28">
                  <c:v>6130.0</c:v>
                </c:pt>
                <c:pt idx="29">
                  <c:v>5272.0</c:v>
                </c:pt>
                <c:pt idx="30">
                  <c:v>5060.0</c:v>
                </c:pt>
                <c:pt idx="31">
                  <c:v>4968.0</c:v>
                </c:pt>
                <c:pt idx="32">
                  <c:v>5098.0</c:v>
                </c:pt>
                <c:pt idx="33">
                  <c:v>3067.0</c:v>
                </c:pt>
                <c:pt idx="34">
                  <c:v>1361.0</c:v>
                </c:pt>
                <c:pt idx="35">
                  <c:v>5909.0</c:v>
                </c:pt>
                <c:pt idx="36">
                  <c:v>5402.0</c:v>
                </c:pt>
                <c:pt idx="37">
                  <c:v>5247.0</c:v>
                </c:pt>
                <c:pt idx="38">
                  <c:v>5394.0</c:v>
                </c:pt>
                <c:pt idx="39">
                  <c:v>5158.0</c:v>
                </c:pt>
                <c:pt idx="40">
                  <c:v>3300.0</c:v>
                </c:pt>
                <c:pt idx="41">
                  <c:v>1661.0</c:v>
                </c:pt>
                <c:pt idx="42">
                  <c:v>6381.0</c:v>
                </c:pt>
                <c:pt idx="43">
                  <c:v>5652.0</c:v>
                </c:pt>
                <c:pt idx="44">
                  <c:v>5554.0</c:v>
                </c:pt>
                <c:pt idx="45">
                  <c:v>5385.0</c:v>
                </c:pt>
                <c:pt idx="46">
                  <c:v>5445.0</c:v>
                </c:pt>
                <c:pt idx="47">
                  <c:v>3227.0</c:v>
                </c:pt>
                <c:pt idx="48">
                  <c:v>1906.0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9695832"/>
        <c:axId val="2089675688"/>
      </c:lineChart>
      <c:catAx>
        <c:axId val="20896958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2400" dirty="0" smtClean="0"/>
                  <a:t>Week</a:t>
                </a:r>
                <a:endParaRPr lang="en-US" sz="24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675688"/>
        <c:crosses val="autoZero"/>
        <c:auto val="1"/>
        <c:lblAlgn val="ctr"/>
        <c:lblOffset val="100"/>
        <c:tickLblSkip val="7"/>
        <c:noMultiLvlLbl val="0"/>
      </c:catAx>
      <c:valAx>
        <c:axId val="20896756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2400" dirty="0" smtClean="0"/>
                  <a:t>Normalized Call Volume</a:t>
                </a:r>
                <a:endParaRPr lang="en-US" sz="24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695832"/>
        <c:crosses val="autoZero"/>
        <c:crossBetween val="between"/>
        <c:majorUnit val="20000.0"/>
        <c:dispUnits>
          <c:builtInUnit val="hundredThousands"/>
        </c:dispUnits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invertIfNegative val="0"/>
          <c:cat>
            <c:numRef>
              <c:f>Sheet4!$D$70:$D$99</c:f>
              <c:numCache>
                <c:formatCode>m/d/yy</c:formatCode>
                <c:ptCount val="30"/>
                <c:pt idx="0">
                  <c:v>40673.0</c:v>
                </c:pt>
                <c:pt idx="1">
                  <c:v>40674.0</c:v>
                </c:pt>
                <c:pt idx="2">
                  <c:v>40675.0</c:v>
                </c:pt>
                <c:pt idx="3">
                  <c:v>40676.0</c:v>
                </c:pt>
                <c:pt idx="4">
                  <c:v>40677.0</c:v>
                </c:pt>
                <c:pt idx="5">
                  <c:v>40678.0</c:v>
                </c:pt>
                <c:pt idx="6">
                  <c:v>40679.0</c:v>
                </c:pt>
                <c:pt idx="7">
                  <c:v>40680.0</c:v>
                </c:pt>
                <c:pt idx="8">
                  <c:v>40681.0</c:v>
                </c:pt>
                <c:pt idx="9">
                  <c:v>40682.0</c:v>
                </c:pt>
                <c:pt idx="10">
                  <c:v>40683.0</c:v>
                </c:pt>
                <c:pt idx="11">
                  <c:v>40684.0</c:v>
                </c:pt>
                <c:pt idx="12">
                  <c:v>40685.0</c:v>
                </c:pt>
                <c:pt idx="13">
                  <c:v>40686.0</c:v>
                </c:pt>
                <c:pt idx="14">
                  <c:v>40687.0</c:v>
                </c:pt>
                <c:pt idx="15">
                  <c:v>40688.0</c:v>
                </c:pt>
                <c:pt idx="16">
                  <c:v>40689.0</c:v>
                </c:pt>
                <c:pt idx="17">
                  <c:v>40690.0</c:v>
                </c:pt>
                <c:pt idx="18">
                  <c:v>40691.0</c:v>
                </c:pt>
                <c:pt idx="19">
                  <c:v>40692.0</c:v>
                </c:pt>
                <c:pt idx="20">
                  <c:v>40693.0</c:v>
                </c:pt>
                <c:pt idx="21">
                  <c:v>40694.0</c:v>
                </c:pt>
                <c:pt idx="22">
                  <c:v>40695.0</c:v>
                </c:pt>
                <c:pt idx="23">
                  <c:v>40696.0</c:v>
                </c:pt>
                <c:pt idx="24">
                  <c:v>40697.0</c:v>
                </c:pt>
                <c:pt idx="25">
                  <c:v>40698.0</c:v>
                </c:pt>
                <c:pt idx="26">
                  <c:v>40699.0</c:v>
                </c:pt>
                <c:pt idx="27">
                  <c:v>40700.0</c:v>
                </c:pt>
                <c:pt idx="28">
                  <c:v>40701.0</c:v>
                </c:pt>
                <c:pt idx="29">
                  <c:v>40702.0</c:v>
                </c:pt>
              </c:numCache>
            </c:numRef>
          </c:cat>
          <c:val>
            <c:numRef>
              <c:f>Sheet4!$E$70:$E$99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1.0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1.0</c:v>
                </c:pt>
                <c:pt idx="23">
                  <c:v>1.0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0824936"/>
        <c:axId val="2090828008"/>
      </c:barChart>
      <c:dateAx>
        <c:axId val="2090824936"/>
        <c:scaling>
          <c:orientation val="minMax"/>
        </c:scaling>
        <c:delete val="0"/>
        <c:axPos val="b"/>
        <c:numFmt formatCode="[$-409]d\-mmm;@" sourceLinked="0"/>
        <c:majorTickMark val="out"/>
        <c:minorTickMark val="none"/>
        <c:tickLblPos val="nextTo"/>
        <c:txPr>
          <a:bodyPr rot="-2700000"/>
          <a:lstStyle/>
          <a:p>
            <a:pPr>
              <a:defRPr sz="2400"/>
            </a:pPr>
            <a:endParaRPr lang="en-US"/>
          </a:p>
        </c:txPr>
        <c:crossAx val="2090828008"/>
        <c:crosses val="autoZero"/>
        <c:auto val="1"/>
        <c:lblOffset val="100"/>
        <c:baseTimeUnit val="days"/>
        <c:majorUnit val="2.0"/>
        <c:majorTimeUnit val="days"/>
      </c:dateAx>
      <c:valAx>
        <c:axId val="2090828008"/>
        <c:scaling>
          <c:orientation val="minMax"/>
          <c:max val="1.0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90824936"/>
        <c:crosses val="autoZero"/>
        <c:crossBetween val="between"/>
        <c:majorUnit val="1.0"/>
        <c:minorUnit val="1.0"/>
      </c:valAx>
    </c:plotArea>
    <c:plotVisOnly val="1"/>
    <c:dispBlanksAs val="zero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4965768434416"/>
          <c:y val="0.0505867014341591"/>
          <c:w val="0.670644679673215"/>
          <c:h val="0.799453643913807"/>
        </c:manualLayout>
      </c:layout>
      <c:lineChart>
        <c:grouping val="standard"/>
        <c:varyColors val="0"/>
        <c:ser>
          <c:idx val="1"/>
          <c:order val="0"/>
          <c:tx>
            <c:v>All calls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cat>
            <c:numRef>
              <c:f>Sheet1!$A$1:$A$44</c:f>
              <c:numCache>
                <c:formatCode>General</c:formatCode>
                <c:ptCount val="4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4.0</c:v>
                </c:pt>
                <c:pt idx="22">
                  <c:v>4.0</c:v>
                </c:pt>
                <c:pt idx="23">
                  <c:v>4.0</c:v>
                </c:pt>
                <c:pt idx="24">
                  <c:v>4.0</c:v>
                </c:pt>
                <c:pt idx="25">
                  <c:v>4.0</c:v>
                </c:pt>
                <c:pt idx="26">
                  <c:v>4.0</c:v>
                </c:pt>
                <c:pt idx="27">
                  <c:v>4.0</c:v>
                </c:pt>
                <c:pt idx="28">
                  <c:v>5.0</c:v>
                </c:pt>
                <c:pt idx="29">
                  <c:v>5.0</c:v>
                </c:pt>
                <c:pt idx="30">
                  <c:v>5.0</c:v>
                </c:pt>
                <c:pt idx="31">
                  <c:v>5.0</c:v>
                </c:pt>
                <c:pt idx="32">
                  <c:v>5.0</c:v>
                </c:pt>
                <c:pt idx="33">
                  <c:v>5.0</c:v>
                </c:pt>
                <c:pt idx="34">
                  <c:v>5.0</c:v>
                </c:pt>
                <c:pt idx="35">
                  <c:v>6.0</c:v>
                </c:pt>
                <c:pt idx="36">
                  <c:v>6.0</c:v>
                </c:pt>
                <c:pt idx="37">
                  <c:v>6.0</c:v>
                </c:pt>
                <c:pt idx="38">
                  <c:v>6.0</c:v>
                </c:pt>
                <c:pt idx="39">
                  <c:v>6.0</c:v>
                </c:pt>
                <c:pt idx="40">
                  <c:v>6.0</c:v>
                </c:pt>
                <c:pt idx="41">
                  <c:v>6.0</c:v>
                </c:pt>
                <c:pt idx="42">
                  <c:v>7.0</c:v>
                </c:pt>
                <c:pt idx="43">
                  <c:v>7.0</c:v>
                </c:pt>
              </c:numCache>
            </c:numRef>
          </c:cat>
          <c:val>
            <c:numRef>
              <c:f>Sheet1!$B$50:$B$93</c:f>
              <c:numCache>
                <c:formatCode>General</c:formatCode>
                <c:ptCount val="44"/>
                <c:pt idx="0">
                  <c:v>0.843017101</c:v>
                </c:pt>
                <c:pt idx="1">
                  <c:v>0.816937244</c:v>
                </c:pt>
                <c:pt idx="2">
                  <c:v>0.835621339</c:v>
                </c:pt>
                <c:pt idx="3">
                  <c:v>0.487651827</c:v>
                </c:pt>
                <c:pt idx="4">
                  <c:v>0.316945762</c:v>
                </c:pt>
                <c:pt idx="5">
                  <c:v>0.973845918</c:v>
                </c:pt>
                <c:pt idx="6">
                  <c:v>0.881226105</c:v>
                </c:pt>
                <c:pt idx="7">
                  <c:v>0.845336338</c:v>
                </c:pt>
                <c:pt idx="8">
                  <c:v>0.830217492</c:v>
                </c:pt>
                <c:pt idx="9">
                  <c:v>0.837605954</c:v>
                </c:pt>
                <c:pt idx="10">
                  <c:v>0.510759021</c:v>
                </c:pt>
                <c:pt idx="11">
                  <c:v>0.314491459</c:v>
                </c:pt>
                <c:pt idx="12">
                  <c:v>0.973845918</c:v>
                </c:pt>
                <c:pt idx="13">
                  <c:v>0.887824857</c:v>
                </c:pt>
                <c:pt idx="14">
                  <c:v>0.845211007</c:v>
                </c:pt>
                <c:pt idx="15">
                  <c:v>0.827156002</c:v>
                </c:pt>
                <c:pt idx="16">
                  <c:v>0.847421948</c:v>
                </c:pt>
                <c:pt idx="17">
                  <c:v>0.50254678</c:v>
                </c:pt>
                <c:pt idx="18">
                  <c:v>0.314491459</c:v>
                </c:pt>
                <c:pt idx="19">
                  <c:v>0.968914193</c:v>
                </c:pt>
                <c:pt idx="20">
                  <c:v>0.877408977</c:v>
                </c:pt>
                <c:pt idx="21">
                  <c:v>0.861689028</c:v>
                </c:pt>
                <c:pt idx="22">
                  <c:v>0.883697443</c:v>
                </c:pt>
                <c:pt idx="23">
                  <c:v>0.90311649</c:v>
                </c:pt>
                <c:pt idx="24">
                  <c:v>0.510842981</c:v>
                </c:pt>
                <c:pt idx="25">
                  <c:v>0.300478692</c:v>
                </c:pt>
                <c:pt idx="26">
                  <c:v>0.47220201</c:v>
                </c:pt>
                <c:pt idx="27">
                  <c:v>1.0</c:v>
                </c:pt>
                <c:pt idx="28">
                  <c:v>0.890601614</c:v>
                </c:pt>
                <c:pt idx="29">
                  <c:v>0.851424031</c:v>
                </c:pt>
                <c:pt idx="30">
                  <c:v>0.867864331</c:v>
                </c:pt>
                <c:pt idx="31">
                  <c:v>0.506910256</c:v>
                </c:pt>
                <c:pt idx="32">
                  <c:v>0.301831784</c:v>
                </c:pt>
                <c:pt idx="33">
                  <c:v>0.258086301</c:v>
                </c:pt>
                <c:pt idx="34">
                  <c:v>0.874707662</c:v>
                </c:pt>
                <c:pt idx="35">
                  <c:v>0.829875569</c:v>
                </c:pt>
                <c:pt idx="36">
                  <c:v>0.819869753</c:v>
                </c:pt>
                <c:pt idx="37">
                  <c:v>0.835268464</c:v>
                </c:pt>
                <c:pt idx="38">
                  <c:v>0.504199206</c:v>
                </c:pt>
                <c:pt idx="39">
                  <c:v>0.305451789</c:v>
                </c:pt>
                <c:pt idx="40">
                  <c:v>0.959763793</c:v>
                </c:pt>
                <c:pt idx="41">
                  <c:v>0.874707662</c:v>
                </c:pt>
                <c:pt idx="42">
                  <c:v>0.809249448</c:v>
                </c:pt>
                <c:pt idx="43">
                  <c:v>0.785775995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Sheet1!$D$49</c:f>
              <c:strCache>
                <c:ptCount val="1"/>
                <c:pt idx="0">
                  <c:v>Technical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val>
            <c:numRef>
              <c:f>Sheet1!$D$50:$D$93</c:f>
              <c:numCache>
                <c:formatCode>General</c:formatCode>
                <c:ptCount val="44"/>
                <c:pt idx="0">
                  <c:v>0.082082251</c:v>
                </c:pt>
                <c:pt idx="1">
                  <c:v>0.079595095</c:v>
                </c:pt>
                <c:pt idx="2">
                  <c:v>0.078892996</c:v>
                </c:pt>
                <c:pt idx="3">
                  <c:v>0.054235589</c:v>
                </c:pt>
                <c:pt idx="4">
                  <c:v>0.029838578</c:v>
                </c:pt>
                <c:pt idx="5">
                  <c:v>0.088577575</c:v>
                </c:pt>
                <c:pt idx="6">
                  <c:v>0.085087768</c:v>
                </c:pt>
                <c:pt idx="7">
                  <c:v>0.083968305</c:v>
                </c:pt>
                <c:pt idx="8">
                  <c:v>0.082297626</c:v>
                </c:pt>
                <c:pt idx="9">
                  <c:v>0.082974172</c:v>
                </c:pt>
                <c:pt idx="10">
                  <c:v>0.058358136</c:v>
                </c:pt>
                <c:pt idx="11">
                  <c:v>0.032038568</c:v>
                </c:pt>
                <c:pt idx="12">
                  <c:v>0.078168995</c:v>
                </c:pt>
                <c:pt idx="13">
                  <c:v>0.085463762</c:v>
                </c:pt>
                <c:pt idx="14">
                  <c:v>0.126146538</c:v>
                </c:pt>
                <c:pt idx="15">
                  <c:v>0.085705907</c:v>
                </c:pt>
                <c:pt idx="16">
                  <c:v>0.119400551</c:v>
                </c:pt>
                <c:pt idx="17">
                  <c:v>0.06368654</c:v>
                </c:pt>
                <c:pt idx="18">
                  <c:v>0.032556928</c:v>
                </c:pt>
                <c:pt idx="19">
                  <c:v>0.095587609</c:v>
                </c:pt>
                <c:pt idx="20">
                  <c:v>0.094243036</c:v>
                </c:pt>
                <c:pt idx="21">
                  <c:v>0.090599911</c:v>
                </c:pt>
                <c:pt idx="22">
                  <c:v>0.091368934</c:v>
                </c:pt>
                <c:pt idx="23">
                  <c:v>0.088885428</c:v>
                </c:pt>
                <c:pt idx="24">
                  <c:v>0.057701059</c:v>
                </c:pt>
                <c:pt idx="25">
                  <c:v>0.030079506</c:v>
                </c:pt>
                <c:pt idx="26">
                  <c:v>0.048052985</c:v>
                </c:pt>
                <c:pt idx="27">
                  <c:v>0.094069032</c:v>
                </c:pt>
                <c:pt idx="28">
                  <c:v>0.08784749</c:v>
                </c:pt>
                <c:pt idx="29">
                  <c:v>0.082652935</c:v>
                </c:pt>
                <c:pt idx="30">
                  <c:v>0.081608913</c:v>
                </c:pt>
                <c:pt idx="31">
                  <c:v>0.055087355</c:v>
                </c:pt>
                <c:pt idx="32">
                  <c:v>0.029561146</c:v>
                </c:pt>
                <c:pt idx="33">
                  <c:v>0.001392029</c:v>
                </c:pt>
                <c:pt idx="34">
                  <c:v>0.075504185</c:v>
                </c:pt>
                <c:pt idx="35">
                  <c:v>0.081106371</c:v>
                </c:pt>
                <c:pt idx="36">
                  <c:v>0.080890996</c:v>
                </c:pt>
                <c:pt idx="37">
                  <c:v>0.080832589</c:v>
                </c:pt>
                <c:pt idx="38">
                  <c:v>0.056509804</c:v>
                </c:pt>
                <c:pt idx="39">
                  <c:v>0.030053953</c:v>
                </c:pt>
                <c:pt idx="40">
                  <c:v>0.086994507</c:v>
                </c:pt>
                <c:pt idx="41">
                  <c:v>0.087515301</c:v>
                </c:pt>
                <c:pt idx="42">
                  <c:v>0.082824505</c:v>
                </c:pt>
                <c:pt idx="43">
                  <c:v>0.080174296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Sheet1!$E$49</c:f>
              <c:strCache>
                <c:ptCount val="1"/>
                <c:pt idx="0">
                  <c:v>Technical or Troubleshooting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val>
            <c:numRef>
              <c:f>Sheet1!$E$50:$E$93</c:f>
              <c:numCache>
                <c:formatCode>General</c:formatCode>
                <c:ptCount val="44"/>
                <c:pt idx="0">
                  <c:v>0.146880955</c:v>
                </c:pt>
                <c:pt idx="1">
                  <c:v>0.161458321</c:v>
                </c:pt>
                <c:pt idx="2">
                  <c:v>0.155070076</c:v>
                </c:pt>
                <c:pt idx="3">
                  <c:v>0.093755095</c:v>
                </c:pt>
                <c:pt idx="4">
                  <c:v>0.078216451</c:v>
                </c:pt>
                <c:pt idx="5">
                  <c:v>0.143315706</c:v>
                </c:pt>
                <c:pt idx="6">
                  <c:v>0.143315706</c:v>
                </c:pt>
                <c:pt idx="7">
                  <c:v>0.146333391</c:v>
                </c:pt>
                <c:pt idx="8">
                  <c:v>0.139932978</c:v>
                </c:pt>
                <c:pt idx="9">
                  <c:v>0.131050276</c:v>
                </c:pt>
                <c:pt idx="10">
                  <c:v>0.090141174</c:v>
                </c:pt>
                <c:pt idx="11">
                  <c:v>0.139044708</c:v>
                </c:pt>
                <c:pt idx="12">
                  <c:v>0.139044708</c:v>
                </c:pt>
                <c:pt idx="13">
                  <c:v>0.171253629</c:v>
                </c:pt>
                <c:pt idx="14">
                  <c:v>0.158294619</c:v>
                </c:pt>
                <c:pt idx="15">
                  <c:v>0.153232695</c:v>
                </c:pt>
                <c:pt idx="16">
                  <c:v>0.191019467</c:v>
                </c:pt>
                <c:pt idx="17">
                  <c:v>0.127132153</c:v>
                </c:pt>
                <c:pt idx="18">
                  <c:v>0.114367831</c:v>
                </c:pt>
                <c:pt idx="19">
                  <c:v>0.185164184</c:v>
                </c:pt>
                <c:pt idx="20">
                  <c:v>0.159389746</c:v>
                </c:pt>
                <c:pt idx="21">
                  <c:v>0.143778093</c:v>
                </c:pt>
                <c:pt idx="22">
                  <c:v>0.141161955</c:v>
                </c:pt>
                <c:pt idx="23">
                  <c:v>0.136416402</c:v>
                </c:pt>
                <c:pt idx="24">
                  <c:v>0.098610161</c:v>
                </c:pt>
                <c:pt idx="25">
                  <c:v>0.076707608</c:v>
                </c:pt>
                <c:pt idx="26">
                  <c:v>0.093085851</c:v>
                </c:pt>
                <c:pt idx="27">
                  <c:v>0.159182889</c:v>
                </c:pt>
                <c:pt idx="28">
                  <c:v>0.142038057</c:v>
                </c:pt>
                <c:pt idx="29">
                  <c:v>0.145919676</c:v>
                </c:pt>
                <c:pt idx="30">
                  <c:v>0.135832334</c:v>
                </c:pt>
                <c:pt idx="31">
                  <c:v>0.113491729</c:v>
                </c:pt>
                <c:pt idx="32">
                  <c:v>0.078009593</c:v>
                </c:pt>
                <c:pt idx="33">
                  <c:v>0.044316166</c:v>
                </c:pt>
                <c:pt idx="34">
                  <c:v>0.0</c:v>
                </c:pt>
                <c:pt idx="35">
                  <c:v>0.15853798</c:v>
                </c:pt>
                <c:pt idx="36">
                  <c:v>0.133362212</c:v>
                </c:pt>
                <c:pt idx="37">
                  <c:v>0.122325759</c:v>
                </c:pt>
                <c:pt idx="38">
                  <c:v>0.09182037</c:v>
                </c:pt>
                <c:pt idx="39">
                  <c:v>0.085651151</c:v>
                </c:pt>
                <c:pt idx="40">
                  <c:v>0.14252478</c:v>
                </c:pt>
                <c:pt idx="41">
                  <c:v>0.133909776</c:v>
                </c:pt>
                <c:pt idx="42">
                  <c:v>0.130648729</c:v>
                </c:pt>
                <c:pt idx="43">
                  <c:v>0.128957365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Sheet1!$F$49</c:f>
              <c:strCache>
                <c:ptCount val="1"/>
                <c:pt idx="0">
                  <c:v>Cannot Make or Receive Calls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val>
            <c:numRef>
              <c:f>Sheet1!$F$50:$F$93</c:f>
              <c:numCache>
                <c:formatCode>General</c:formatCode>
                <c:ptCount val="44"/>
                <c:pt idx="0">
                  <c:v>0.039388091</c:v>
                </c:pt>
                <c:pt idx="1">
                  <c:v>0.046980976</c:v>
                </c:pt>
                <c:pt idx="2">
                  <c:v>0.04606837</c:v>
                </c:pt>
                <c:pt idx="3">
                  <c:v>0.022498789</c:v>
                </c:pt>
                <c:pt idx="4">
                  <c:v>0.011888219</c:v>
                </c:pt>
                <c:pt idx="5">
                  <c:v>0.040945606</c:v>
                </c:pt>
                <c:pt idx="6">
                  <c:v>0.040945606</c:v>
                </c:pt>
                <c:pt idx="7">
                  <c:v>0.04257613</c:v>
                </c:pt>
                <c:pt idx="8">
                  <c:v>0.037672391</c:v>
                </c:pt>
                <c:pt idx="9">
                  <c:v>0.037063987</c:v>
                </c:pt>
                <c:pt idx="10">
                  <c:v>0.021549679</c:v>
                </c:pt>
                <c:pt idx="11">
                  <c:v>0.041115959</c:v>
                </c:pt>
                <c:pt idx="12">
                  <c:v>0.041115959</c:v>
                </c:pt>
                <c:pt idx="13">
                  <c:v>0.049305081</c:v>
                </c:pt>
                <c:pt idx="14">
                  <c:v>0.047102657</c:v>
                </c:pt>
                <c:pt idx="15">
                  <c:v>0.036479919</c:v>
                </c:pt>
                <c:pt idx="16">
                  <c:v>0.051483168</c:v>
                </c:pt>
                <c:pt idx="17">
                  <c:v>0.025455634</c:v>
                </c:pt>
                <c:pt idx="18">
                  <c:v>0.014431349</c:v>
                </c:pt>
                <c:pt idx="19">
                  <c:v>0.052176749</c:v>
                </c:pt>
                <c:pt idx="20">
                  <c:v>0.042150247</c:v>
                </c:pt>
                <c:pt idx="21">
                  <c:v>0.040945606</c:v>
                </c:pt>
                <c:pt idx="22">
                  <c:v>0.037112659</c:v>
                </c:pt>
                <c:pt idx="23">
                  <c:v>0.038110442</c:v>
                </c:pt>
                <c:pt idx="24">
                  <c:v>0.022924672</c:v>
                </c:pt>
                <c:pt idx="25">
                  <c:v>0.012131581</c:v>
                </c:pt>
                <c:pt idx="26">
                  <c:v>0.028461151</c:v>
                </c:pt>
                <c:pt idx="27">
                  <c:v>0.047200002</c:v>
                </c:pt>
                <c:pt idx="28">
                  <c:v>0.040471051</c:v>
                </c:pt>
                <c:pt idx="29">
                  <c:v>0.039083889</c:v>
                </c:pt>
                <c:pt idx="30">
                  <c:v>0.039692293</c:v>
                </c:pt>
                <c:pt idx="31">
                  <c:v>0.022243259</c:v>
                </c:pt>
                <c:pt idx="32">
                  <c:v>0.012691313</c:v>
                </c:pt>
                <c:pt idx="33">
                  <c:v>0.009478938</c:v>
                </c:pt>
                <c:pt idx="34">
                  <c:v>0.0</c:v>
                </c:pt>
                <c:pt idx="35">
                  <c:v>0.04715133</c:v>
                </c:pt>
                <c:pt idx="36">
                  <c:v>0.036528591</c:v>
                </c:pt>
                <c:pt idx="37">
                  <c:v>0.032707813</c:v>
                </c:pt>
                <c:pt idx="38">
                  <c:v>0.019517608</c:v>
                </c:pt>
                <c:pt idx="39">
                  <c:v>0.01747337</c:v>
                </c:pt>
                <c:pt idx="40">
                  <c:v>0.046396908</c:v>
                </c:pt>
                <c:pt idx="41">
                  <c:v>0.035932355</c:v>
                </c:pt>
                <c:pt idx="42">
                  <c:v>0.034557362</c:v>
                </c:pt>
                <c:pt idx="43">
                  <c:v>0.0320264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Sheet1!$G$49</c:f>
              <c:strCache>
                <c:ptCount val="1"/>
                <c:pt idx="0">
                  <c:v>Voice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val>
            <c:numRef>
              <c:f>Sheet1!$G$50:$G$93</c:f>
              <c:numCache>
                <c:formatCode>General</c:formatCode>
                <c:ptCount val="44"/>
                <c:pt idx="0">
                  <c:v>0.025565147</c:v>
                </c:pt>
                <c:pt idx="1">
                  <c:v>0.031150298</c:v>
                </c:pt>
                <c:pt idx="2">
                  <c:v>0.028838362</c:v>
                </c:pt>
                <c:pt idx="3">
                  <c:v>0.016426915</c:v>
                </c:pt>
                <c:pt idx="4">
                  <c:v>0.009795308</c:v>
                </c:pt>
                <c:pt idx="5">
                  <c:v>0.026745451</c:v>
                </c:pt>
                <c:pt idx="6">
                  <c:v>0.026745451</c:v>
                </c:pt>
                <c:pt idx="7">
                  <c:v>0.027025317</c:v>
                </c:pt>
                <c:pt idx="8">
                  <c:v>0.026295232</c:v>
                </c:pt>
                <c:pt idx="9">
                  <c:v>0.025930189</c:v>
                </c:pt>
                <c:pt idx="10">
                  <c:v>0.016512091</c:v>
                </c:pt>
                <c:pt idx="11">
                  <c:v>0.029130396</c:v>
                </c:pt>
                <c:pt idx="12">
                  <c:v>0.029130396</c:v>
                </c:pt>
                <c:pt idx="13">
                  <c:v>0.033012015</c:v>
                </c:pt>
                <c:pt idx="14">
                  <c:v>0.029507606</c:v>
                </c:pt>
                <c:pt idx="15">
                  <c:v>0.033839445</c:v>
                </c:pt>
                <c:pt idx="16">
                  <c:v>0.046859296</c:v>
                </c:pt>
                <c:pt idx="17">
                  <c:v>0.030809591</c:v>
                </c:pt>
                <c:pt idx="18">
                  <c:v>0.017339521</c:v>
                </c:pt>
                <c:pt idx="19">
                  <c:v>0.049621451</c:v>
                </c:pt>
                <c:pt idx="20">
                  <c:v>0.030444549</c:v>
                </c:pt>
                <c:pt idx="21">
                  <c:v>0.027840579</c:v>
                </c:pt>
                <c:pt idx="22">
                  <c:v>0.02541913</c:v>
                </c:pt>
                <c:pt idx="23">
                  <c:v>0.025893685</c:v>
                </c:pt>
                <c:pt idx="24">
                  <c:v>0.01595236</c:v>
                </c:pt>
                <c:pt idx="25">
                  <c:v>0.009588451</c:v>
                </c:pt>
                <c:pt idx="26">
                  <c:v>0.015039753</c:v>
                </c:pt>
                <c:pt idx="27">
                  <c:v>0.033218872</c:v>
                </c:pt>
                <c:pt idx="28">
                  <c:v>0.027499872</c:v>
                </c:pt>
                <c:pt idx="29">
                  <c:v>0.026173551</c:v>
                </c:pt>
                <c:pt idx="30">
                  <c:v>0.026222223</c:v>
                </c:pt>
                <c:pt idx="31">
                  <c:v>0.02319237</c:v>
                </c:pt>
                <c:pt idx="32">
                  <c:v>0.011024285</c:v>
                </c:pt>
                <c:pt idx="33">
                  <c:v>0.0091504</c:v>
                </c:pt>
                <c:pt idx="34">
                  <c:v>0.0</c:v>
                </c:pt>
                <c:pt idx="35">
                  <c:v>0.029933489</c:v>
                </c:pt>
                <c:pt idx="36">
                  <c:v>0.027025317</c:v>
                </c:pt>
                <c:pt idx="37">
                  <c:v>0.025346121</c:v>
                </c:pt>
                <c:pt idx="38">
                  <c:v>0.016487755</c:v>
                </c:pt>
                <c:pt idx="39">
                  <c:v>0.014260996</c:v>
                </c:pt>
                <c:pt idx="40">
                  <c:v>0.028351638</c:v>
                </c:pt>
                <c:pt idx="41">
                  <c:v>0.025698996</c:v>
                </c:pt>
                <c:pt idx="42">
                  <c:v>0.024141481</c:v>
                </c:pt>
                <c:pt idx="43">
                  <c:v>0.023983296</c:v>
                </c:pt>
              </c:numCache>
            </c:numRef>
          </c:val>
          <c:smooth val="0"/>
        </c:ser>
        <c:ser>
          <c:idx val="5"/>
          <c:order val="5"/>
          <c:tx>
            <c:v>Anomaly-related calls</c:v>
          </c:tx>
          <c:spPr>
            <a:ln>
              <a:noFill/>
            </a:ln>
          </c:spPr>
          <c:marker>
            <c:symbol val="none"/>
          </c:marker>
          <c:val>
            <c:numRef>
              <c:f>Sheet1!$C$50:$C$93</c:f>
              <c:numCache>
                <c:formatCode>General</c:formatCode>
                <c:ptCount val="44"/>
                <c:pt idx="0">
                  <c:v>0.293916444</c:v>
                </c:pt>
                <c:pt idx="1">
                  <c:v>0.31918469</c:v>
                </c:pt>
                <c:pt idx="2">
                  <c:v>0.308869804</c:v>
                </c:pt>
                <c:pt idx="3">
                  <c:v>0.186916388</c:v>
                </c:pt>
                <c:pt idx="4">
                  <c:v>0.129738557</c:v>
                </c:pt>
                <c:pt idx="5">
                  <c:v>0.297868638</c:v>
                </c:pt>
                <c:pt idx="6">
                  <c:v>0.296094531</c:v>
                </c:pt>
                <c:pt idx="7">
                  <c:v>0.299903142</c:v>
                </c:pt>
                <c:pt idx="8">
                  <c:v>0.286198228</c:v>
                </c:pt>
                <c:pt idx="9">
                  <c:v>0.277018624</c:v>
                </c:pt>
                <c:pt idx="10">
                  <c:v>0.18656108</c:v>
                </c:pt>
                <c:pt idx="11">
                  <c:v>0.17817727</c:v>
                </c:pt>
                <c:pt idx="12">
                  <c:v>0.287460058</c:v>
                </c:pt>
                <c:pt idx="13">
                  <c:v>0.339034487</c:v>
                </c:pt>
                <c:pt idx="14">
                  <c:v>0.36105142</c:v>
                </c:pt>
                <c:pt idx="15">
                  <c:v>0.309257966</c:v>
                </c:pt>
                <c:pt idx="16">
                  <c:v>0.456517348</c:v>
                </c:pt>
                <c:pt idx="17">
                  <c:v>0.247083918</c:v>
                </c:pt>
                <c:pt idx="18">
                  <c:v>0.17869563</c:v>
                </c:pt>
                <c:pt idx="19">
                  <c:v>0.403123791</c:v>
                </c:pt>
                <c:pt idx="20">
                  <c:v>0.326227577</c:v>
                </c:pt>
                <c:pt idx="21">
                  <c:v>0.303164189</c:v>
                </c:pt>
                <c:pt idx="22">
                  <c:v>0.295062678</c:v>
                </c:pt>
                <c:pt idx="23">
                  <c:v>0.289305957</c:v>
                </c:pt>
                <c:pt idx="24">
                  <c:v>0.195188252</c:v>
                </c:pt>
                <c:pt idx="25">
                  <c:v>0.128507146</c:v>
                </c:pt>
                <c:pt idx="26">
                  <c:v>0.18463974</c:v>
                </c:pt>
                <c:pt idx="27">
                  <c:v>0.333670795</c:v>
                </c:pt>
                <c:pt idx="28">
                  <c:v>0.29785647</c:v>
                </c:pt>
                <c:pt idx="29">
                  <c:v>0.293830051</c:v>
                </c:pt>
                <c:pt idx="30">
                  <c:v>0.283355763</c:v>
                </c:pt>
                <c:pt idx="31">
                  <c:v>0.214014714</c:v>
                </c:pt>
                <c:pt idx="32">
                  <c:v>0.131286337</c:v>
                </c:pt>
                <c:pt idx="33">
                  <c:v>0.064337533</c:v>
                </c:pt>
                <c:pt idx="34">
                  <c:v>0.075504185</c:v>
                </c:pt>
                <c:pt idx="35">
                  <c:v>0.31672917</c:v>
                </c:pt>
                <c:pt idx="36">
                  <c:v>0.277807116</c:v>
                </c:pt>
                <c:pt idx="37">
                  <c:v>0.261212282</c:v>
                </c:pt>
                <c:pt idx="38">
                  <c:v>0.184335537</c:v>
                </c:pt>
                <c:pt idx="39">
                  <c:v>0.14743947</c:v>
                </c:pt>
                <c:pt idx="40">
                  <c:v>0.304267834</c:v>
                </c:pt>
                <c:pt idx="41">
                  <c:v>0.283056428</c:v>
                </c:pt>
                <c:pt idx="42">
                  <c:v>0.272172076</c:v>
                </c:pt>
                <c:pt idx="43">
                  <c:v>0.265141357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8903064"/>
        <c:axId val="2088897464"/>
      </c:lineChart>
      <c:catAx>
        <c:axId val="20889030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/>
                  <a:t>Week</a:t>
                </a:r>
              </a:p>
            </c:rich>
          </c:tx>
          <c:layout>
            <c:manualLayout>
              <c:xMode val="edge"/>
              <c:yMode val="edge"/>
              <c:x val="0.0976842529063428"/>
              <c:y val="0.87052524062120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8897464"/>
        <c:crosses val="autoZero"/>
        <c:auto val="1"/>
        <c:lblAlgn val="ctr"/>
        <c:lblOffset val="0"/>
        <c:tickLblSkip val="7"/>
        <c:noMultiLvlLbl val="0"/>
      </c:catAx>
      <c:valAx>
        <c:axId val="2088897464"/>
        <c:scaling>
          <c:orientation val="minMax"/>
          <c:max val="1.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 b="1" i="0" u="none" strike="noStrike" baseline="0">
                    <a:effectLst/>
                  </a:rPr>
                  <a:t>Normalized call volume</a:t>
                </a:r>
                <a:endParaRPr lang="en-US" sz="24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89030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4965768434416"/>
          <c:y val="0.0505867014341591"/>
          <c:w val="0.670644679673215"/>
          <c:h val="0.799453643913807"/>
        </c:manualLayout>
      </c:layout>
      <c:lineChart>
        <c:grouping val="standard"/>
        <c:varyColors val="0"/>
        <c:ser>
          <c:idx val="1"/>
          <c:order val="0"/>
          <c:tx>
            <c:v>All calls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cat>
            <c:numRef>
              <c:f>Sheet1!$A$1:$A$44</c:f>
              <c:numCache>
                <c:formatCode>General</c:formatCode>
                <c:ptCount val="4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4.0</c:v>
                </c:pt>
                <c:pt idx="22">
                  <c:v>4.0</c:v>
                </c:pt>
                <c:pt idx="23">
                  <c:v>4.0</c:v>
                </c:pt>
                <c:pt idx="24">
                  <c:v>4.0</c:v>
                </c:pt>
                <c:pt idx="25">
                  <c:v>4.0</c:v>
                </c:pt>
                <c:pt idx="26">
                  <c:v>4.0</c:v>
                </c:pt>
                <c:pt idx="27">
                  <c:v>4.0</c:v>
                </c:pt>
                <c:pt idx="28">
                  <c:v>5.0</c:v>
                </c:pt>
                <c:pt idx="29">
                  <c:v>5.0</c:v>
                </c:pt>
                <c:pt idx="30">
                  <c:v>5.0</c:v>
                </c:pt>
                <c:pt idx="31">
                  <c:v>5.0</c:v>
                </c:pt>
                <c:pt idx="32">
                  <c:v>5.0</c:v>
                </c:pt>
                <c:pt idx="33">
                  <c:v>5.0</c:v>
                </c:pt>
                <c:pt idx="34">
                  <c:v>5.0</c:v>
                </c:pt>
                <c:pt idx="35">
                  <c:v>6.0</c:v>
                </c:pt>
                <c:pt idx="36">
                  <c:v>6.0</c:v>
                </c:pt>
                <c:pt idx="37">
                  <c:v>6.0</c:v>
                </c:pt>
                <c:pt idx="38">
                  <c:v>6.0</c:v>
                </c:pt>
                <c:pt idx="39">
                  <c:v>6.0</c:v>
                </c:pt>
                <c:pt idx="40">
                  <c:v>6.0</c:v>
                </c:pt>
                <c:pt idx="41">
                  <c:v>6.0</c:v>
                </c:pt>
                <c:pt idx="42">
                  <c:v>7.0</c:v>
                </c:pt>
                <c:pt idx="43">
                  <c:v>7.0</c:v>
                </c:pt>
              </c:numCache>
            </c:numRef>
          </c:cat>
          <c:val>
            <c:numRef>
              <c:f>Sheet1!$B$50:$B$93</c:f>
              <c:numCache>
                <c:formatCode>General</c:formatCode>
                <c:ptCount val="44"/>
                <c:pt idx="0">
                  <c:v>0.843017101</c:v>
                </c:pt>
                <c:pt idx="1">
                  <c:v>0.816937244</c:v>
                </c:pt>
                <c:pt idx="2">
                  <c:v>0.835621339</c:v>
                </c:pt>
                <c:pt idx="3">
                  <c:v>0.487651827</c:v>
                </c:pt>
                <c:pt idx="4">
                  <c:v>0.316945762</c:v>
                </c:pt>
                <c:pt idx="5">
                  <c:v>0.973845918</c:v>
                </c:pt>
                <c:pt idx="6">
                  <c:v>0.881226105</c:v>
                </c:pt>
                <c:pt idx="7">
                  <c:v>0.845336338</c:v>
                </c:pt>
                <c:pt idx="8">
                  <c:v>0.830217492</c:v>
                </c:pt>
                <c:pt idx="9">
                  <c:v>0.837605954</c:v>
                </c:pt>
                <c:pt idx="10">
                  <c:v>0.510759021</c:v>
                </c:pt>
                <c:pt idx="11">
                  <c:v>0.314491459</c:v>
                </c:pt>
                <c:pt idx="12">
                  <c:v>0.973845918</c:v>
                </c:pt>
                <c:pt idx="13">
                  <c:v>0.887824857</c:v>
                </c:pt>
                <c:pt idx="14">
                  <c:v>0.845211007</c:v>
                </c:pt>
                <c:pt idx="15">
                  <c:v>0.827156002</c:v>
                </c:pt>
                <c:pt idx="16">
                  <c:v>0.847421948</c:v>
                </c:pt>
                <c:pt idx="17">
                  <c:v>0.50254678</c:v>
                </c:pt>
                <c:pt idx="18">
                  <c:v>0.314491459</c:v>
                </c:pt>
                <c:pt idx="19">
                  <c:v>0.968914193</c:v>
                </c:pt>
                <c:pt idx="20">
                  <c:v>0.877408977</c:v>
                </c:pt>
                <c:pt idx="21">
                  <c:v>0.861689028</c:v>
                </c:pt>
                <c:pt idx="22">
                  <c:v>0.883697443</c:v>
                </c:pt>
                <c:pt idx="23">
                  <c:v>0.90311649</c:v>
                </c:pt>
                <c:pt idx="24">
                  <c:v>0.510842981</c:v>
                </c:pt>
                <c:pt idx="25">
                  <c:v>0.300478692</c:v>
                </c:pt>
                <c:pt idx="26">
                  <c:v>0.47220201</c:v>
                </c:pt>
                <c:pt idx="27">
                  <c:v>1.0</c:v>
                </c:pt>
                <c:pt idx="28">
                  <c:v>0.890601614</c:v>
                </c:pt>
                <c:pt idx="29">
                  <c:v>0.851424031</c:v>
                </c:pt>
                <c:pt idx="30">
                  <c:v>0.867864331</c:v>
                </c:pt>
                <c:pt idx="31">
                  <c:v>0.506910256</c:v>
                </c:pt>
                <c:pt idx="32">
                  <c:v>0.301831784</c:v>
                </c:pt>
                <c:pt idx="33">
                  <c:v>0.258086301</c:v>
                </c:pt>
                <c:pt idx="34">
                  <c:v>0.874707662</c:v>
                </c:pt>
                <c:pt idx="35">
                  <c:v>0.829875569</c:v>
                </c:pt>
                <c:pt idx="36">
                  <c:v>0.819869753</c:v>
                </c:pt>
                <c:pt idx="37">
                  <c:v>0.835268464</c:v>
                </c:pt>
                <c:pt idx="38">
                  <c:v>0.504199206</c:v>
                </c:pt>
                <c:pt idx="39">
                  <c:v>0.305451789</c:v>
                </c:pt>
                <c:pt idx="40">
                  <c:v>0.959763793</c:v>
                </c:pt>
                <c:pt idx="41">
                  <c:v>0.874707662</c:v>
                </c:pt>
                <c:pt idx="42">
                  <c:v>0.809249448</c:v>
                </c:pt>
                <c:pt idx="43">
                  <c:v>0.785775995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Sheet1!$D$49</c:f>
              <c:strCache>
                <c:ptCount val="1"/>
                <c:pt idx="0">
                  <c:v>Technical</c:v>
                </c:pt>
              </c:strCache>
            </c:strRef>
          </c:tx>
          <c:spPr>
            <a:ln>
              <a:solidFill>
                <a:srgbClr val="8107E1"/>
              </a:solidFill>
            </a:ln>
          </c:spPr>
          <c:marker>
            <c:symbol val="none"/>
          </c:marker>
          <c:val>
            <c:numRef>
              <c:f>Sheet1!$D$50:$D$93</c:f>
              <c:numCache>
                <c:formatCode>General</c:formatCode>
                <c:ptCount val="44"/>
                <c:pt idx="0">
                  <c:v>0.082082251</c:v>
                </c:pt>
                <c:pt idx="1">
                  <c:v>0.079595095</c:v>
                </c:pt>
                <c:pt idx="2">
                  <c:v>0.078892996</c:v>
                </c:pt>
                <c:pt idx="3">
                  <c:v>0.054235589</c:v>
                </c:pt>
                <c:pt idx="4">
                  <c:v>0.029838578</c:v>
                </c:pt>
                <c:pt idx="5">
                  <c:v>0.088577575</c:v>
                </c:pt>
                <c:pt idx="6">
                  <c:v>0.085087768</c:v>
                </c:pt>
                <c:pt idx="7">
                  <c:v>0.083968305</c:v>
                </c:pt>
                <c:pt idx="8">
                  <c:v>0.082297626</c:v>
                </c:pt>
                <c:pt idx="9">
                  <c:v>0.082974172</c:v>
                </c:pt>
                <c:pt idx="10">
                  <c:v>0.058358136</c:v>
                </c:pt>
                <c:pt idx="11">
                  <c:v>0.032038568</c:v>
                </c:pt>
                <c:pt idx="12">
                  <c:v>0.078168995</c:v>
                </c:pt>
                <c:pt idx="13">
                  <c:v>0.085463762</c:v>
                </c:pt>
                <c:pt idx="14">
                  <c:v>0.126146538</c:v>
                </c:pt>
                <c:pt idx="15">
                  <c:v>0.085705907</c:v>
                </c:pt>
                <c:pt idx="16">
                  <c:v>0.119400551</c:v>
                </c:pt>
                <c:pt idx="17">
                  <c:v>0.06368654</c:v>
                </c:pt>
                <c:pt idx="18">
                  <c:v>0.032556928</c:v>
                </c:pt>
                <c:pt idx="19">
                  <c:v>0.095587609</c:v>
                </c:pt>
                <c:pt idx="20">
                  <c:v>0.094243036</c:v>
                </c:pt>
                <c:pt idx="21">
                  <c:v>0.090599911</c:v>
                </c:pt>
                <c:pt idx="22">
                  <c:v>0.091368934</c:v>
                </c:pt>
                <c:pt idx="23">
                  <c:v>0.088885428</c:v>
                </c:pt>
                <c:pt idx="24">
                  <c:v>0.057701059</c:v>
                </c:pt>
                <c:pt idx="25">
                  <c:v>0.030079506</c:v>
                </c:pt>
                <c:pt idx="26">
                  <c:v>0.048052985</c:v>
                </c:pt>
                <c:pt idx="27">
                  <c:v>0.094069032</c:v>
                </c:pt>
                <c:pt idx="28">
                  <c:v>0.08784749</c:v>
                </c:pt>
                <c:pt idx="29">
                  <c:v>0.082652935</c:v>
                </c:pt>
                <c:pt idx="30">
                  <c:v>0.081608913</c:v>
                </c:pt>
                <c:pt idx="31">
                  <c:v>0.055087355</c:v>
                </c:pt>
                <c:pt idx="32">
                  <c:v>0.029561146</c:v>
                </c:pt>
                <c:pt idx="33">
                  <c:v>0.001392029</c:v>
                </c:pt>
                <c:pt idx="34">
                  <c:v>0.075504185</c:v>
                </c:pt>
                <c:pt idx="35">
                  <c:v>0.081106371</c:v>
                </c:pt>
                <c:pt idx="36">
                  <c:v>0.080890996</c:v>
                </c:pt>
                <c:pt idx="37">
                  <c:v>0.080832589</c:v>
                </c:pt>
                <c:pt idx="38">
                  <c:v>0.056509804</c:v>
                </c:pt>
                <c:pt idx="39">
                  <c:v>0.030053953</c:v>
                </c:pt>
                <c:pt idx="40">
                  <c:v>0.086994507</c:v>
                </c:pt>
                <c:pt idx="41">
                  <c:v>0.087515301</c:v>
                </c:pt>
                <c:pt idx="42">
                  <c:v>0.082824505</c:v>
                </c:pt>
                <c:pt idx="43">
                  <c:v>0.080174296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Sheet1!$E$49</c:f>
              <c:strCache>
                <c:ptCount val="1"/>
                <c:pt idx="0">
                  <c:v>Technical or Troubleshooting</c:v>
                </c:pt>
              </c:strCache>
            </c:strRef>
          </c:tx>
          <c:spPr>
            <a:ln>
              <a:solidFill>
                <a:srgbClr val="8DBB63"/>
              </a:solidFill>
            </a:ln>
          </c:spPr>
          <c:marker>
            <c:symbol val="none"/>
          </c:marker>
          <c:val>
            <c:numRef>
              <c:f>Sheet1!$E$50:$E$93</c:f>
              <c:numCache>
                <c:formatCode>General</c:formatCode>
                <c:ptCount val="44"/>
                <c:pt idx="0">
                  <c:v>0.146880955</c:v>
                </c:pt>
                <c:pt idx="1">
                  <c:v>0.161458321</c:v>
                </c:pt>
                <c:pt idx="2">
                  <c:v>0.155070076</c:v>
                </c:pt>
                <c:pt idx="3">
                  <c:v>0.093755095</c:v>
                </c:pt>
                <c:pt idx="4">
                  <c:v>0.078216451</c:v>
                </c:pt>
                <c:pt idx="5">
                  <c:v>0.143315706</c:v>
                </c:pt>
                <c:pt idx="6">
                  <c:v>0.143315706</c:v>
                </c:pt>
                <c:pt idx="7">
                  <c:v>0.146333391</c:v>
                </c:pt>
                <c:pt idx="8">
                  <c:v>0.139932978</c:v>
                </c:pt>
                <c:pt idx="9">
                  <c:v>0.131050276</c:v>
                </c:pt>
                <c:pt idx="10">
                  <c:v>0.090141174</c:v>
                </c:pt>
                <c:pt idx="11">
                  <c:v>0.139044708</c:v>
                </c:pt>
                <c:pt idx="12">
                  <c:v>0.139044708</c:v>
                </c:pt>
                <c:pt idx="13">
                  <c:v>0.171253629</c:v>
                </c:pt>
                <c:pt idx="14">
                  <c:v>0.158294619</c:v>
                </c:pt>
                <c:pt idx="15">
                  <c:v>0.153232695</c:v>
                </c:pt>
                <c:pt idx="16">
                  <c:v>0.191019467</c:v>
                </c:pt>
                <c:pt idx="17">
                  <c:v>0.127132153</c:v>
                </c:pt>
                <c:pt idx="18">
                  <c:v>0.114367831</c:v>
                </c:pt>
                <c:pt idx="19">
                  <c:v>0.185164184</c:v>
                </c:pt>
                <c:pt idx="20">
                  <c:v>0.159389746</c:v>
                </c:pt>
                <c:pt idx="21">
                  <c:v>0.143778093</c:v>
                </c:pt>
                <c:pt idx="22">
                  <c:v>0.141161955</c:v>
                </c:pt>
                <c:pt idx="23">
                  <c:v>0.136416402</c:v>
                </c:pt>
                <c:pt idx="24">
                  <c:v>0.098610161</c:v>
                </c:pt>
                <c:pt idx="25">
                  <c:v>0.076707608</c:v>
                </c:pt>
                <c:pt idx="26">
                  <c:v>0.093085851</c:v>
                </c:pt>
                <c:pt idx="27">
                  <c:v>0.159182889</c:v>
                </c:pt>
                <c:pt idx="28">
                  <c:v>0.142038057</c:v>
                </c:pt>
                <c:pt idx="29">
                  <c:v>0.145919676</c:v>
                </c:pt>
                <c:pt idx="30">
                  <c:v>0.135832334</c:v>
                </c:pt>
                <c:pt idx="31">
                  <c:v>0.113491729</c:v>
                </c:pt>
                <c:pt idx="32">
                  <c:v>0.078009593</c:v>
                </c:pt>
                <c:pt idx="33">
                  <c:v>0.044316166</c:v>
                </c:pt>
                <c:pt idx="34">
                  <c:v>0.0</c:v>
                </c:pt>
                <c:pt idx="35">
                  <c:v>0.15853798</c:v>
                </c:pt>
                <c:pt idx="36">
                  <c:v>0.133362212</c:v>
                </c:pt>
                <c:pt idx="37">
                  <c:v>0.122325759</c:v>
                </c:pt>
                <c:pt idx="38">
                  <c:v>0.09182037</c:v>
                </c:pt>
                <c:pt idx="39">
                  <c:v>0.085651151</c:v>
                </c:pt>
                <c:pt idx="40">
                  <c:v>0.14252478</c:v>
                </c:pt>
                <c:pt idx="41">
                  <c:v>0.133909776</c:v>
                </c:pt>
                <c:pt idx="42">
                  <c:v>0.130648729</c:v>
                </c:pt>
                <c:pt idx="43">
                  <c:v>0.128957365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Sheet1!$F$49</c:f>
              <c:strCache>
                <c:ptCount val="1"/>
                <c:pt idx="0">
                  <c:v>Cannot Make or Receive Calls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ymbol val="none"/>
          </c:marker>
          <c:val>
            <c:numRef>
              <c:f>Sheet1!$F$50:$F$93</c:f>
              <c:numCache>
                <c:formatCode>General</c:formatCode>
                <c:ptCount val="44"/>
                <c:pt idx="0">
                  <c:v>0.039388091</c:v>
                </c:pt>
                <c:pt idx="1">
                  <c:v>0.046980976</c:v>
                </c:pt>
                <c:pt idx="2">
                  <c:v>0.04606837</c:v>
                </c:pt>
                <c:pt idx="3">
                  <c:v>0.022498789</c:v>
                </c:pt>
                <c:pt idx="4">
                  <c:v>0.011888219</c:v>
                </c:pt>
                <c:pt idx="5">
                  <c:v>0.040945606</c:v>
                </c:pt>
                <c:pt idx="6">
                  <c:v>0.040945606</c:v>
                </c:pt>
                <c:pt idx="7">
                  <c:v>0.04257613</c:v>
                </c:pt>
                <c:pt idx="8">
                  <c:v>0.037672391</c:v>
                </c:pt>
                <c:pt idx="9">
                  <c:v>0.037063987</c:v>
                </c:pt>
                <c:pt idx="10">
                  <c:v>0.021549679</c:v>
                </c:pt>
                <c:pt idx="11">
                  <c:v>0.041115959</c:v>
                </c:pt>
                <c:pt idx="12">
                  <c:v>0.041115959</c:v>
                </c:pt>
                <c:pt idx="13">
                  <c:v>0.049305081</c:v>
                </c:pt>
                <c:pt idx="14">
                  <c:v>0.047102657</c:v>
                </c:pt>
                <c:pt idx="15">
                  <c:v>0.036479919</c:v>
                </c:pt>
                <c:pt idx="16">
                  <c:v>0.051483168</c:v>
                </c:pt>
                <c:pt idx="17">
                  <c:v>0.025455634</c:v>
                </c:pt>
                <c:pt idx="18">
                  <c:v>0.014431349</c:v>
                </c:pt>
                <c:pt idx="19">
                  <c:v>0.052176749</c:v>
                </c:pt>
                <c:pt idx="20">
                  <c:v>0.042150247</c:v>
                </c:pt>
                <c:pt idx="21">
                  <c:v>0.040945606</c:v>
                </c:pt>
                <c:pt idx="22">
                  <c:v>0.037112659</c:v>
                </c:pt>
                <c:pt idx="23">
                  <c:v>0.038110442</c:v>
                </c:pt>
                <c:pt idx="24">
                  <c:v>0.022924672</c:v>
                </c:pt>
                <c:pt idx="25">
                  <c:v>0.012131581</c:v>
                </c:pt>
                <c:pt idx="26">
                  <c:v>0.028461151</c:v>
                </c:pt>
                <c:pt idx="27">
                  <c:v>0.047200002</c:v>
                </c:pt>
                <c:pt idx="28">
                  <c:v>0.040471051</c:v>
                </c:pt>
                <c:pt idx="29">
                  <c:v>0.039083889</c:v>
                </c:pt>
                <c:pt idx="30">
                  <c:v>0.039692293</c:v>
                </c:pt>
                <c:pt idx="31">
                  <c:v>0.022243259</c:v>
                </c:pt>
                <c:pt idx="32">
                  <c:v>0.012691313</c:v>
                </c:pt>
                <c:pt idx="33">
                  <c:v>0.009478938</c:v>
                </c:pt>
                <c:pt idx="34">
                  <c:v>0.0</c:v>
                </c:pt>
                <c:pt idx="35">
                  <c:v>0.04715133</c:v>
                </c:pt>
                <c:pt idx="36">
                  <c:v>0.036528591</c:v>
                </c:pt>
                <c:pt idx="37">
                  <c:v>0.032707813</c:v>
                </c:pt>
                <c:pt idx="38">
                  <c:v>0.019517608</c:v>
                </c:pt>
                <c:pt idx="39">
                  <c:v>0.01747337</c:v>
                </c:pt>
                <c:pt idx="40">
                  <c:v>0.046396908</c:v>
                </c:pt>
                <c:pt idx="41">
                  <c:v>0.035932355</c:v>
                </c:pt>
                <c:pt idx="42">
                  <c:v>0.034557362</c:v>
                </c:pt>
                <c:pt idx="43">
                  <c:v>0.0320264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Sheet1!$G$49</c:f>
              <c:strCache>
                <c:ptCount val="1"/>
                <c:pt idx="0">
                  <c:v>Voice</c:v>
                </c:pt>
              </c:strCache>
            </c:strRef>
          </c:tx>
          <c:spPr>
            <a:ln>
              <a:solidFill>
                <a:srgbClr val="62A3E4"/>
              </a:solidFill>
            </a:ln>
          </c:spPr>
          <c:marker>
            <c:symbol val="none"/>
          </c:marker>
          <c:val>
            <c:numRef>
              <c:f>Sheet1!$G$50:$G$93</c:f>
              <c:numCache>
                <c:formatCode>General</c:formatCode>
                <c:ptCount val="44"/>
                <c:pt idx="0">
                  <c:v>0.025565147</c:v>
                </c:pt>
                <c:pt idx="1">
                  <c:v>0.031150298</c:v>
                </c:pt>
                <c:pt idx="2">
                  <c:v>0.028838362</c:v>
                </c:pt>
                <c:pt idx="3">
                  <c:v>0.016426915</c:v>
                </c:pt>
                <c:pt idx="4">
                  <c:v>0.009795308</c:v>
                </c:pt>
                <c:pt idx="5">
                  <c:v>0.026745451</c:v>
                </c:pt>
                <c:pt idx="6">
                  <c:v>0.026745451</c:v>
                </c:pt>
                <c:pt idx="7">
                  <c:v>0.027025317</c:v>
                </c:pt>
                <c:pt idx="8">
                  <c:v>0.026295232</c:v>
                </c:pt>
                <c:pt idx="9">
                  <c:v>0.025930189</c:v>
                </c:pt>
                <c:pt idx="10">
                  <c:v>0.016512091</c:v>
                </c:pt>
                <c:pt idx="11">
                  <c:v>0.029130396</c:v>
                </c:pt>
                <c:pt idx="12">
                  <c:v>0.029130396</c:v>
                </c:pt>
                <c:pt idx="13">
                  <c:v>0.033012015</c:v>
                </c:pt>
                <c:pt idx="14">
                  <c:v>0.029507606</c:v>
                </c:pt>
                <c:pt idx="15">
                  <c:v>0.033839445</c:v>
                </c:pt>
                <c:pt idx="16">
                  <c:v>0.046859296</c:v>
                </c:pt>
                <c:pt idx="17">
                  <c:v>0.030809591</c:v>
                </c:pt>
                <c:pt idx="18">
                  <c:v>0.017339521</c:v>
                </c:pt>
                <c:pt idx="19">
                  <c:v>0.049621451</c:v>
                </c:pt>
                <c:pt idx="20">
                  <c:v>0.030444549</c:v>
                </c:pt>
                <c:pt idx="21">
                  <c:v>0.027840579</c:v>
                </c:pt>
                <c:pt idx="22">
                  <c:v>0.02541913</c:v>
                </c:pt>
                <c:pt idx="23">
                  <c:v>0.025893685</c:v>
                </c:pt>
                <c:pt idx="24">
                  <c:v>0.01595236</c:v>
                </c:pt>
                <c:pt idx="25">
                  <c:v>0.009588451</c:v>
                </c:pt>
                <c:pt idx="26">
                  <c:v>0.015039753</c:v>
                </c:pt>
                <c:pt idx="27">
                  <c:v>0.033218872</c:v>
                </c:pt>
                <c:pt idx="28">
                  <c:v>0.027499872</c:v>
                </c:pt>
                <c:pt idx="29">
                  <c:v>0.026173551</c:v>
                </c:pt>
                <c:pt idx="30">
                  <c:v>0.026222223</c:v>
                </c:pt>
                <c:pt idx="31">
                  <c:v>0.02319237</c:v>
                </c:pt>
                <c:pt idx="32">
                  <c:v>0.011024285</c:v>
                </c:pt>
                <c:pt idx="33">
                  <c:v>0.0091504</c:v>
                </c:pt>
                <c:pt idx="34">
                  <c:v>0.0</c:v>
                </c:pt>
                <c:pt idx="35">
                  <c:v>0.029933489</c:v>
                </c:pt>
                <c:pt idx="36">
                  <c:v>0.027025317</c:v>
                </c:pt>
                <c:pt idx="37">
                  <c:v>0.025346121</c:v>
                </c:pt>
                <c:pt idx="38">
                  <c:v>0.016487755</c:v>
                </c:pt>
                <c:pt idx="39">
                  <c:v>0.014260996</c:v>
                </c:pt>
                <c:pt idx="40">
                  <c:v>0.028351638</c:v>
                </c:pt>
                <c:pt idx="41">
                  <c:v>0.025698996</c:v>
                </c:pt>
                <c:pt idx="42">
                  <c:v>0.024141481</c:v>
                </c:pt>
                <c:pt idx="43">
                  <c:v>0.023983296</c:v>
                </c:pt>
              </c:numCache>
            </c:numRef>
          </c:val>
          <c:smooth val="0"/>
        </c:ser>
        <c:ser>
          <c:idx val="5"/>
          <c:order val="5"/>
          <c:tx>
            <c:v>Anomaly-related calls</c:v>
          </c:tx>
          <c:spPr>
            <a:ln>
              <a:noFill/>
            </a:ln>
          </c:spPr>
          <c:marker>
            <c:symbol val="none"/>
          </c:marker>
          <c:val>
            <c:numRef>
              <c:f>Sheet1!$C$50:$C$93</c:f>
              <c:numCache>
                <c:formatCode>General</c:formatCode>
                <c:ptCount val="44"/>
                <c:pt idx="0">
                  <c:v>0.293916444</c:v>
                </c:pt>
                <c:pt idx="1">
                  <c:v>0.31918469</c:v>
                </c:pt>
                <c:pt idx="2">
                  <c:v>0.308869804</c:v>
                </c:pt>
                <c:pt idx="3">
                  <c:v>0.186916388</c:v>
                </c:pt>
                <c:pt idx="4">
                  <c:v>0.129738557</c:v>
                </c:pt>
                <c:pt idx="5">
                  <c:v>0.297868638</c:v>
                </c:pt>
                <c:pt idx="6">
                  <c:v>0.296094531</c:v>
                </c:pt>
                <c:pt idx="7">
                  <c:v>0.299903142</c:v>
                </c:pt>
                <c:pt idx="8">
                  <c:v>0.286198228</c:v>
                </c:pt>
                <c:pt idx="9">
                  <c:v>0.277018624</c:v>
                </c:pt>
                <c:pt idx="10">
                  <c:v>0.18656108</c:v>
                </c:pt>
                <c:pt idx="11">
                  <c:v>0.17817727</c:v>
                </c:pt>
                <c:pt idx="12">
                  <c:v>0.287460058</c:v>
                </c:pt>
                <c:pt idx="13">
                  <c:v>0.339034487</c:v>
                </c:pt>
                <c:pt idx="14">
                  <c:v>0.36105142</c:v>
                </c:pt>
                <c:pt idx="15">
                  <c:v>0.309257966</c:v>
                </c:pt>
                <c:pt idx="16">
                  <c:v>0.456517348</c:v>
                </c:pt>
                <c:pt idx="17">
                  <c:v>0.247083918</c:v>
                </c:pt>
                <c:pt idx="18">
                  <c:v>0.17869563</c:v>
                </c:pt>
                <c:pt idx="19">
                  <c:v>0.403123791</c:v>
                </c:pt>
                <c:pt idx="20">
                  <c:v>0.326227577</c:v>
                </c:pt>
                <c:pt idx="21">
                  <c:v>0.303164189</c:v>
                </c:pt>
                <c:pt idx="22">
                  <c:v>0.295062678</c:v>
                </c:pt>
                <c:pt idx="23">
                  <c:v>0.289305957</c:v>
                </c:pt>
                <c:pt idx="24">
                  <c:v>0.195188252</c:v>
                </c:pt>
                <c:pt idx="25">
                  <c:v>0.128507146</c:v>
                </c:pt>
                <c:pt idx="26">
                  <c:v>0.18463974</c:v>
                </c:pt>
                <c:pt idx="27">
                  <c:v>0.333670795</c:v>
                </c:pt>
                <c:pt idx="28">
                  <c:v>0.29785647</c:v>
                </c:pt>
                <c:pt idx="29">
                  <c:v>0.293830051</c:v>
                </c:pt>
                <c:pt idx="30">
                  <c:v>0.283355763</c:v>
                </c:pt>
                <c:pt idx="31">
                  <c:v>0.214014714</c:v>
                </c:pt>
                <c:pt idx="32">
                  <c:v>0.131286337</c:v>
                </c:pt>
                <c:pt idx="33">
                  <c:v>0.064337533</c:v>
                </c:pt>
                <c:pt idx="34">
                  <c:v>0.075504185</c:v>
                </c:pt>
                <c:pt idx="35">
                  <c:v>0.31672917</c:v>
                </c:pt>
                <c:pt idx="36">
                  <c:v>0.277807116</c:v>
                </c:pt>
                <c:pt idx="37">
                  <c:v>0.261212282</c:v>
                </c:pt>
                <c:pt idx="38">
                  <c:v>0.184335537</c:v>
                </c:pt>
                <c:pt idx="39">
                  <c:v>0.14743947</c:v>
                </c:pt>
                <c:pt idx="40">
                  <c:v>0.304267834</c:v>
                </c:pt>
                <c:pt idx="41">
                  <c:v>0.283056428</c:v>
                </c:pt>
                <c:pt idx="42">
                  <c:v>0.272172076</c:v>
                </c:pt>
                <c:pt idx="43">
                  <c:v>0.265141357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9893208"/>
        <c:axId val="2089887560"/>
      </c:lineChart>
      <c:catAx>
        <c:axId val="20898932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/>
                  <a:t>Week</a:t>
                </a:r>
              </a:p>
            </c:rich>
          </c:tx>
          <c:layout>
            <c:manualLayout>
              <c:xMode val="edge"/>
              <c:yMode val="edge"/>
              <c:x val="0.0976842529063428"/>
              <c:y val="0.87052524062120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887560"/>
        <c:crosses val="autoZero"/>
        <c:auto val="1"/>
        <c:lblAlgn val="ctr"/>
        <c:lblOffset val="0"/>
        <c:tickLblSkip val="7"/>
        <c:noMultiLvlLbl val="0"/>
      </c:catAx>
      <c:valAx>
        <c:axId val="2089887560"/>
        <c:scaling>
          <c:orientation val="minMax"/>
          <c:max val="1.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 b="1" i="0" u="none" strike="noStrike" baseline="0">
                    <a:effectLst/>
                  </a:rPr>
                  <a:t>Normalized call volume</a:t>
                </a:r>
                <a:endParaRPr lang="en-US" sz="24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89320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4965768434416"/>
          <c:y val="0.0505867014341591"/>
          <c:w val="0.670644679673215"/>
          <c:h val="0.799453643913807"/>
        </c:manualLayout>
      </c:layout>
      <c:lineChart>
        <c:grouping val="standard"/>
        <c:varyColors val="0"/>
        <c:ser>
          <c:idx val="1"/>
          <c:order val="0"/>
          <c:tx>
            <c:v>All calls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cat>
            <c:numRef>
              <c:f>Sheet1!$A$1:$A$44</c:f>
              <c:numCache>
                <c:formatCode>General</c:formatCode>
                <c:ptCount val="4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4.0</c:v>
                </c:pt>
                <c:pt idx="22">
                  <c:v>4.0</c:v>
                </c:pt>
                <c:pt idx="23">
                  <c:v>4.0</c:v>
                </c:pt>
                <c:pt idx="24">
                  <c:v>4.0</c:v>
                </c:pt>
                <c:pt idx="25">
                  <c:v>4.0</c:v>
                </c:pt>
                <c:pt idx="26">
                  <c:v>4.0</c:v>
                </c:pt>
                <c:pt idx="27">
                  <c:v>4.0</c:v>
                </c:pt>
                <c:pt idx="28">
                  <c:v>5.0</c:v>
                </c:pt>
                <c:pt idx="29">
                  <c:v>5.0</c:v>
                </c:pt>
                <c:pt idx="30">
                  <c:v>5.0</c:v>
                </c:pt>
                <c:pt idx="31">
                  <c:v>5.0</c:v>
                </c:pt>
                <c:pt idx="32">
                  <c:v>5.0</c:v>
                </c:pt>
                <c:pt idx="33">
                  <c:v>5.0</c:v>
                </c:pt>
                <c:pt idx="34">
                  <c:v>5.0</c:v>
                </c:pt>
                <c:pt idx="35">
                  <c:v>6.0</c:v>
                </c:pt>
                <c:pt idx="36">
                  <c:v>6.0</c:v>
                </c:pt>
                <c:pt idx="37">
                  <c:v>6.0</c:v>
                </c:pt>
                <c:pt idx="38">
                  <c:v>6.0</c:v>
                </c:pt>
                <c:pt idx="39">
                  <c:v>6.0</c:v>
                </c:pt>
                <c:pt idx="40">
                  <c:v>6.0</c:v>
                </c:pt>
                <c:pt idx="41">
                  <c:v>6.0</c:v>
                </c:pt>
                <c:pt idx="42">
                  <c:v>7.0</c:v>
                </c:pt>
                <c:pt idx="43">
                  <c:v>7.0</c:v>
                </c:pt>
              </c:numCache>
            </c:numRef>
          </c:cat>
          <c:val>
            <c:numRef>
              <c:f>Sheet1!$B$50:$B$93</c:f>
              <c:numCache>
                <c:formatCode>General</c:formatCode>
                <c:ptCount val="44"/>
                <c:pt idx="0">
                  <c:v>0.843017101</c:v>
                </c:pt>
                <c:pt idx="1">
                  <c:v>0.816937244</c:v>
                </c:pt>
                <c:pt idx="2">
                  <c:v>0.835621339</c:v>
                </c:pt>
                <c:pt idx="3">
                  <c:v>0.487651827</c:v>
                </c:pt>
                <c:pt idx="4">
                  <c:v>0.316945762</c:v>
                </c:pt>
                <c:pt idx="5">
                  <c:v>0.973845918</c:v>
                </c:pt>
                <c:pt idx="6">
                  <c:v>0.881226105</c:v>
                </c:pt>
                <c:pt idx="7">
                  <c:v>0.845336338</c:v>
                </c:pt>
                <c:pt idx="8">
                  <c:v>0.830217492</c:v>
                </c:pt>
                <c:pt idx="9">
                  <c:v>0.837605954</c:v>
                </c:pt>
                <c:pt idx="10">
                  <c:v>0.510759021</c:v>
                </c:pt>
                <c:pt idx="11">
                  <c:v>0.314491459</c:v>
                </c:pt>
                <c:pt idx="12">
                  <c:v>0.973845918</c:v>
                </c:pt>
                <c:pt idx="13">
                  <c:v>0.887824857</c:v>
                </c:pt>
                <c:pt idx="14">
                  <c:v>0.845211007</c:v>
                </c:pt>
                <c:pt idx="15">
                  <c:v>0.827156002</c:v>
                </c:pt>
                <c:pt idx="16">
                  <c:v>0.847421948</c:v>
                </c:pt>
                <c:pt idx="17">
                  <c:v>0.50254678</c:v>
                </c:pt>
                <c:pt idx="18">
                  <c:v>0.314491459</c:v>
                </c:pt>
                <c:pt idx="19">
                  <c:v>0.968914193</c:v>
                </c:pt>
                <c:pt idx="20">
                  <c:v>0.877408977</c:v>
                </c:pt>
                <c:pt idx="21">
                  <c:v>0.861689028</c:v>
                </c:pt>
                <c:pt idx="22">
                  <c:v>0.883697443</c:v>
                </c:pt>
                <c:pt idx="23">
                  <c:v>0.90311649</c:v>
                </c:pt>
                <c:pt idx="24">
                  <c:v>0.510842981</c:v>
                </c:pt>
                <c:pt idx="25">
                  <c:v>0.300478692</c:v>
                </c:pt>
                <c:pt idx="26">
                  <c:v>0.47220201</c:v>
                </c:pt>
                <c:pt idx="27">
                  <c:v>1.0</c:v>
                </c:pt>
                <c:pt idx="28">
                  <c:v>0.890601614</c:v>
                </c:pt>
                <c:pt idx="29">
                  <c:v>0.851424031</c:v>
                </c:pt>
                <c:pt idx="30">
                  <c:v>0.867864331</c:v>
                </c:pt>
                <c:pt idx="31">
                  <c:v>0.506910256</c:v>
                </c:pt>
                <c:pt idx="32">
                  <c:v>0.301831784</c:v>
                </c:pt>
                <c:pt idx="33">
                  <c:v>0.258086301</c:v>
                </c:pt>
                <c:pt idx="34">
                  <c:v>0.874707662</c:v>
                </c:pt>
                <c:pt idx="35">
                  <c:v>0.829875569</c:v>
                </c:pt>
                <c:pt idx="36">
                  <c:v>0.819869753</c:v>
                </c:pt>
                <c:pt idx="37">
                  <c:v>0.835268464</c:v>
                </c:pt>
                <c:pt idx="38">
                  <c:v>0.504199206</c:v>
                </c:pt>
                <c:pt idx="39">
                  <c:v>0.305451789</c:v>
                </c:pt>
                <c:pt idx="40">
                  <c:v>0.959763793</c:v>
                </c:pt>
                <c:pt idx="41">
                  <c:v>0.874707662</c:v>
                </c:pt>
                <c:pt idx="42">
                  <c:v>0.809249448</c:v>
                </c:pt>
                <c:pt idx="43">
                  <c:v>0.785775995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Sheet1!$D$49</c:f>
              <c:strCache>
                <c:ptCount val="1"/>
                <c:pt idx="0">
                  <c:v>Technical</c:v>
                </c:pt>
              </c:strCache>
            </c:strRef>
          </c:tx>
          <c:spPr>
            <a:ln>
              <a:solidFill>
                <a:srgbClr val="8107E1"/>
              </a:solidFill>
            </a:ln>
          </c:spPr>
          <c:marker>
            <c:symbol val="none"/>
          </c:marker>
          <c:val>
            <c:numRef>
              <c:f>Sheet1!$D$50:$D$93</c:f>
              <c:numCache>
                <c:formatCode>General</c:formatCode>
                <c:ptCount val="44"/>
                <c:pt idx="0">
                  <c:v>0.082082251</c:v>
                </c:pt>
                <c:pt idx="1">
                  <c:v>0.079595095</c:v>
                </c:pt>
                <c:pt idx="2">
                  <c:v>0.078892996</c:v>
                </c:pt>
                <c:pt idx="3">
                  <c:v>0.054235589</c:v>
                </c:pt>
                <c:pt idx="4">
                  <c:v>0.029838578</c:v>
                </c:pt>
                <c:pt idx="5">
                  <c:v>0.088577575</c:v>
                </c:pt>
                <c:pt idx="6">
                  <c:v>0.085087768</c:v>
                </c:pt>
                <c:pt idx="7">
                  <c:v>0.083968305</c:v>
                </c:pt>
                <c:pt idx="8">
                  <c:v>0.082297626</c:v>
                </c:pt>
                <c:pt idx="9">
                  <c:v>0.082974172</c:v>
                </c:pt>
                <c:pt idx="10">
                  <c:v>0.058358136</c:v>
                </c:pt>
                <c:pt idx="11">
                  <c:v>0.032038568</c:v>
                </c:pt>
                <c:pt idx="12">
                  <c:v>0.078168995</c:v>
                </c:pt>
                <c:pt idx="13">
                  <c:v>0.085463762</c:v>
                </c:pt>
                <c:pt idx="14">
                  <c:v>0.126146538</c:v>
                </c:pt>
                <c:pt idx="15">
                  <c:v>0.085705907</c:v>
                </c:pt>
                <c:pt idx="16">
                  <c:v>0.119400551</c:v>
                </c:pt>
                <c:pt idx="17">
                  <c:v>0.06368654</c:v>
                </c:pt>
                <c:pt idx="18">
                  <c:v>0.032556928</c:v>
                </c:pt>
                <c:pt idx="19">
                  <c:v>0.095587609</c:v>
                </c:pt>
                <c:pt idx="20">
                  <c:v>0.094243036</c:v>
                </c:pt>
                <c:pt idx="21">
                  <c:v>0.090599911</c:v>
                </c:pt>
                <c:pt idx="22">
                  <c:v>0.091368934</c:v>
                </c:pt>
                <c:pt idx="23">
                  <c:v>0.088885428</c:v>
                </c:pt>
                <c:pt idx="24">
                  <c:v>0.057701059</c:v>
                </c:pt>
                <c:pt idx="25">
                  <c:v>0.030079506</c:v>
                </c:pt>
                <c:pt idx="26">
                  <c:v>0.048052985</c:v>
                </c:pt>
                <c:pt idx="27">
                  <c:v>0.094069032</c:v>
                </c:pt>
                <c:pt idx="28">
                  <c:v>0.08784749</c:v>
                </c:pt>
                <c:pt idx="29">
                  <c:v>0.082652935</c:v>
                </c:pt>
                <c:pt idx="30">
                  <c:v>0.081608913</c:v>
                </c:pt>
                <c:pt idx="31">
                  <c:v>0.055087355</c:v>
                </c:pt>
                <c:pt idx="32">
                  <c:v>0.029561146</c:v>
                </c:pt>
                <c:pt idx="33">
                  <c:v>0.001392029</c:v>
                </c:pt>
                <c:pt idx="34">
                  <c:v>0.075504185</c:v>
                </c:pt>
                <c:pt idx="35">
                  <c:v>0.081106371</c:v>
                </c:pt>
                <c:pt idx="36">
                  <c:v>0.080890996</c:v>
                </c:pt>
                <c:pt idx="37">
                  <c:v>0.080832589</c:v>
                </c:pt>
                <c:pt idx="38">
                  <c:v>0.056509804</c:v>
                </c:pt>
                <c:pt idx="39">
                  <c:v>0.030053953</c:v>
                </c:pt>
                <c:pt idx="40">
                  <c:v>0.086994507</c:v>
                </c:pt>
                <c:pt idx="41">
                  <c:v>0.087515301</c:v>
                </c:pt>
                <c:pt idx="42">
                  <c:v>0.082824505</c:v>
                </c:pt>
                <c:pt idx="43">
                  <c:v>0.080174296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Sheet1!$E$49</c:f>
              <c:strCache>
                <c:ptCount val="1"/>
                <c:pt idx="0">
                  <c:v>Technical or Troubleshooting</c:v>
                </c:pt>
              </c:strCache>
            </c:strRef>
          </c:tx>
          <c:spPr>
            <a:ln>
              <a:solidFill>
                <a:srgbClr val="8DBB63"/>
              </a:solidFill>
            </a:ln>
          </c:spPr>
          <c:marker>
            <c:symbol val="none"/>
          </c:marker>
          <c:val>
            <c:numRef>
              <c:f>Sheet1!$E$50:$E$93</c:f>
              <c:numCache>
                <c:formatCode>General</c:formatCode>
                <c:ptCount val="44"/>
                <c:pt idx="0">
                  <c:v>0.146880955</c:v>
                </c:pt>
                <c:pt idx="1">
                  <c:v>0.161458321</c:v>
                </c:pt>
                <c:pt idx="2">
                  <c:v>0.155070076</c:v>
                </c:pt>
                <c:pt idx="3">
                  <c:v>0.093755095</c:v>
                </c:pt>
                <c:pt idx="4">
                  <c:v>0.078216451</c:v>
                </c:pt>
                <c:pt idx="5">
                  <c:v>0.143315706</c:v>
                </c:pt>
                <c:pt idx="6">
                  <c:v>0.143315706</c:v>
                </c:pt>
                <c:pt idx="7">
                  <c:v>0.146333391</c:v>
                </c:pt>
                <c:pt idx="8">
                  <c:v>0.139932978</c:v>
                </c:pt>
                <c:pt idx="9">
                  <c:v>0.131050276</c:v>
                </c:pt>
                <c:pt idx="10">
                  <c:v>0.090141174</c:v>
                </c:pt>
                <c:pt idx="11">
                  <c:v>0.139044708</c:v>
                </c:pt>
                <c:pt idx="12">
                  <c:v>0.139044708</c:v>
                </c:pt>
                <c:pt idx="13">
                  <c:v>0.171253629</c:v>
                </c:pt>
                <c:pt idx="14">
                  <c:v>0.158294619</c:v>
                </c:pt>
                <c:pt idx="15">
                  <c:v>0.153232695</c:v>
                </c:pt>
                <c:pt idx="16">
                  <c:v>0.191019467</c:v>
                </c:pt>
                <c:pt idx="17">
                  <c:v>0.127132153</c:v>
                </c:pt>
                <c:pt idx="18">
                  <c:v>0.114367831</c:v>
                </c:pt>
                <c:pt idx="19">
                  <c:v>0.185164184</c:v>
                </c:pt>
                <c:pt idx="20">
                  <c:v>0.159389746</c:v>
                </c:pt>
                <c:pt idx="21">
                  <c:v>0.143778093</c:v>
                </c:pt>
                <c:pt idx="22">
                  <c:v>0.141161955</c:v>
                </c:pt>
                <c:pt idx="23">
                  <c:v>0.136416402</c:v>
                </c:pt>
                <c:pt idx="24">
                  <c:v>0.098610161</c:v>
                </c:pt>
                <c:pt idx="25">
                  <c:v>0.076707608</c:v>
                </c:pt>
                <c:pt idx="26">
                  <c:v>0.093085851</c:v>
                </c:pt>
                <c:pt idx="27">
                  <c:v>0.159182889</c:v>
                </c:pt>
                <c:pt idx="28">
                  <c:v>0.142038057</c:v>
                </c:pt>
                <c:pt idx="29">
                  <c:v>0.145919676</c:v>
                </c:pt>
                <c:pt idx="30">
                  <c:v>0.135832334</c:v>
                </c:pt>
                <c:pt idx="31">
                  <c:v>0.113491729</c:v>
                </c:pt>
                <c:pt idx="32">
                  <c:v>0.078009593</c:v>
                </c:pt>
                <c:pt idx="33">
                  <c:v>0.044316166</c:v>
                </c:pt>
                <c:pt idx="34">
                  <c:v>0.0</c:v>
                </c:pt>
                <c:pt idx="35">
                  <c:v>0.15853798</c:v>
                </c:pt>
                <c:pt idx="36">
                  <c:v>0.133362212</c:v>
                </c:pt>
                <c:pt idx="37">
                  <c:v>0.122325759</c:v>
                </c:pt>
                <c:pt idx="38">
                  <c:v>0.09182037</c:v>
                </c:pt>
                <c:pt idx="39">
                  <c:v>0.085651151</c:v>
                </c:pt>
                <c:pt idx="40">
                  <c:v>0.14252478</c:v>
                </c:pt>
                <c:pt idx="41">
                  <c:v>0.133909776</c:v>
                </c:pt>
                <c:pt idx="42">
                  <c:v>0.130648729</c:v>
                </c:pt>
                <c:pt idx="43">
                  <c:v>0.128957365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Sheet1!$F$49</c:f>
              <c:strCache>
                <c:ptCount val="1"/>
                <c:pt idx="0">
                  <c:v>Cannot Make or Receive Calls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ymbol val="none"/>
          </c:marker>
          <c:val>
            <c:numRef>
              <c:f>Sheet1!$F$50:$F$93</c:f>
              <c:numCache>
                <c:formatCode>General</c:formatCode>
                <c:ptCount val="44"/>
                <c:pt idx="0">
                  <c:v>0.039388091</c:v>
                </c:pt>
                <c:pt idx="1">
                  <c:v>0.046980976</c:v>
                </c:pt>
                <c:pt idx="2">
                  <c:v>0.04606837</c:v>
                </c:pt>
                <c:pt idx="3">
                  <c:v>0.022498789</c:v>
                </c:pt>
                <c:pt idx="4">
                  <c:v>0.011888219</c:v>
                </c:pt>
                <c:pt idx="5">
                  <c:v>0.040945606</c:v>
                </c:pt>
                <c:pt idx="6">
                  <c:v>0.040945606</c:v>
                </c:pt>
                <c:pt idx="7">
                  <c:v>0.04257613</c:v>
                </c:pt>
                <c:pt idx="8">
                  <c:v>0.037672391</c:v>
                </c:pt>
                <c:pt idx="9">
                  <c:v>0.037063987</c:v>
                </c:pt>
                <c:pt idx="10">
                  <c:v>0.021549679</c:v>
                </c:pt>
                <c:pt idx="11">
                  <c:v>0.041115959</c:v>
                </c:pt>
                <c:pt idx="12">
                  <c:v>0.041115959</c:v>
                </c:pt>
                <c:pt idx="13">
                  <c:v>0.049305081</c:v>
                </c:pt>
                <c:pt idx="14">
                  <c:v>0.047102657</c:v>
                </c:pt>
                <c:pt idx="15">
                  <c:v>0.036479919</c:v>
                </c:pt>
                <c:pt idx="16">
                  <c:v>0.051483168</c:v>
                </c:pt>
                <c:pt idx="17">
                  <c:v>0.025455634</c:v>
                </c:pt>
                <c:pt idx="18">
                  <c:v>0.014431349</c:v>
                </c:pt>
                <c:pt idx="19">
                  <c:v>0.052176749</c:v>
                </c:pt>
                <c:pt idx="20">
                  <c:v>0.042150247</c:v>
                </c:pt>
                <c:pt idx="21">
                  <c:v>0.040945606</c:v>
                </c:pt>
                <c:pt idx="22">
                  <c:v>0.037112659</c:v>
                </c:pt>
                <c:pt idx="23">
                  <c:v>0.038110442</c:v>
                </c:pt>
                <c:pt idx="24">
                  <c:v>0.022924672</c:v>
                </c:pt>
                <c:pt idx="25">
                  <c:v>0.012131581</c:v>
                </c:pt>
                <c:pt idx="26">
                  <c:v>0.028461151</c:v>
                </c:pt>
                <c:pt idx="27">
                  <c:v>0.047200002</c:v>
                </c:pt>
                <c:pt idx="28">
                  <c:v>0.040471051</c:v>
                </c:pt>
                <c:pt idx="29">
                  <c:v>0.039083889</c:v>
                </c:pt>
                <c:pt idx="30">
                  <c:v>0.039692293</c:v>
                </c:pt>
                <c:pt idx="31">
                  <c:v>0.022243259</c:v>
                </c:pt>
                <c:pt idx="32">
                  <c:v>0.012691313</c:v>
                </c:pt>
                <c:pt idx="33">
                  <c:v>0.009478938</c:v>
                </c:pt>
                <c:pt idx="34">
                  <c:v>0.0</c:v>
                </c:pt>
                <c:pt idx="35">
                  <c:v>0.04715133</c:v>
                </c:pt>
                <c:pt idx="36">
                  <c:v>0.036528591</c:v>
                </c:pt>
                <c:pt idx="37">
                  <c:v>0.032707813</c:v>
                </c:pt>
                <c:pt idx="38">
                  <c:v>0.019517608</c:v>
                </c:pt>
                <c:pt idx="39">
                  <c:v>0.01747337</c:v>
                </c:pt>
                <c:pt idx="40">
                  <c:v>0.046396908</c:v>
                </c:pt>
                <c:pt idx="41">
                  <c:v>0.035932355</c:v>
                </c:pt>
                <c:pt idx="42">
                  <c:v>0.034557362</c:v>
                </c:pt>
                <c:pt idx="43">
                  <c:v>0.0320264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Sheet1!$G$49</c:f>
              <c:strCache>
                <c:ptCount val="1"/>
                <c:pt idx="0">
                  <c:v>Voice</c:v>
                </c:pt>
              </c:strCache>
            </c:strRef>
          </c:tx>
          <c:spPr>
            <a:ln>
              <a:solidFill>
                <a:srgbClr val="62A3E4"/>
              </a:solidFill>
            </a:ln>
          </c:spPr>
          <c:marker>
            <c:symbol val="none"/>
          </c:marker>
          <c:val>
            <c:numRef>
              <c:f>Sheet1!$G$50:$G$93</c:f>
              <c:numCache>
                <c:formatCode>General</c:formatCode>
                <c:ptCount val="44"/>
                <c:pt idx="0">
                  <c:v>0.025565147</c:v>
                </c:pt>
                <c:pt idx="1">
                  <c:v>0.031150298</c:v>
                </c:pt>
                <c:pt idx="2">
                  <c:v>0.028838362</c:v>
                </c:pt>
                <c:pt idx="3">
                  <c:v>0.016426915</c:v>
                </c:pt>
                <c:pt idx="4">
                  <c:v>0.009795308</c:v>
                </c:pt>
                <c:pt idx="5">
                  <c:v>0.026745451</c:v>
                </c:pt>
                <c:pt idx="6">
                  <c:v>0.026745451</c:v>
                </c:pt>
                <c:pt idx="7">
                  <c:v>0.027025317</c:v>
                </c:pt>
                <c:pt idx="8">
                  <c:v>0.026295232</c:v>
                </c:pt>
                <c:pt idx="9">
                  <c:v>0.025930189</c:v>
                </c:pt>
                <c:pt idx="10">
                  <c:v>0.016512091</c:v>
                </c:pt>
                <c:pt idx="11">
                  <c:v>0.029130396</c:v>
                </c:pt>
                <c:pt idx="12">
                  <c:v>0.029130396</c:v>
                </c:pt>
                <c:pt idx="13">
                  <c:v>0.033012015</c:v>
                </c:pt>
                <c:pt idx="14">
                  <c:v>0.029507606</c:v>
                </c:pt>
                <c:pt idx="15">
                  <c:v>0.033839445</c:v>
                </c:pt>
                <c:pt idx="16">
                  <c:v>0.046859296</c:v>
                </c:pt>
                <c:pt idx="17">
                  <c:v>0.030809591</c:v>
                </c:pt>
                <c:pt idx="18">
                  <c:v>0.017339521</c:v>
                </c:pt>
                <c:pt idx="19">
                  <c:v>0.049621451</c:v>
                </c:pt>
                <c:pt idx="20">
                  <c:v>0.030444549</c:v>
                </c:pt>
                <c:pt idx="21">
                  <c:v>0.027840579</c:v>
                </c:pt>
                <c:pt idx="22">
                  <c:v>0.02541913</c:v>
                </c:pt>
                <c:pt idx="23">
                  <c:v>0.025893685</c:v>
                </c:pt>
                <c:pt idx="24">
                  <c:v>0.01595236</c:v>
                </c:pt>
                <c:pt idx="25">
                  <c:v>0.009588451</c:v>
                </c:pt>
                <c:pt idx="26">
                  <c:v>0.015039753</c:v>
                </c:pt>
                <c:pt idx="27">
                  <c:v>0.033218872</c:v>
                </c:pt>
                <c:pt idx="28">
                  <c:v>0.027499872</c:v>
                </c:pt>
                <c:pt idx="29">
                  <c:v>0.026173551</c:v>
                </c:pt>
                <c:pt idx="30">
                  <c:v>0.026222223</c:v>
                </c:pt>
                <c:pt idx="31">
                  <c:v>0.02319237</c:v>
                </c:pt>
                <c:pt idx="32">
                  <c:v>0.011024285</c:v>
                </c:pt>
                <c:pt idx="33">
                  <c:v>0.0091504</c:v>
                </c:pt>
                <c:pt idx="34">
                  <c:v>0.0</c:v>
                </c:pt>
                <c:pt idx="35">
                  <c:v>0.029933489</c:v>
                </c:pt>
                <c:pt idx="36">
                  <c:v>0.027025317</c:v>
                </c:pt>
                <c:pt idx="37">
                  <c:v>0.025346121</c:v>
                </c:pt>
                <c:pt idx="38">
                  <c:v>0.016487755</c:v>
                </c:pt>
                <c:pt idx="39">
                  <c:v>0.014260996</c:v>
                </c:pt>
                <c:pt idx="40">
                  <c:v>0.028351638</c:v>
                </c:pt>
                <c:pt idx="41">
                  <c:v>0.025698996</c:v>
                </c:pt>
                <c:pt idx="42">
                  <c:v>0.024141481</c:v>
                </c:pt>
                <c:pt idx="43">
                  <c:v>0.023983296</c:v>
                </c:pt>
              </c:numCache>
            </c:numRef>
          </c:val>
          <c:smooth val="0"/>
        </c:ser>
        <c:ser>
          <c:idx val="5"/>
          <c:order val="5"/>
          <c:tx>
            <c:v>Anomaly-related calls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val>
            <c:numRef>
              <c:f>Sheet1!$C$50:$C$93</c:f>
              <c:numCache>
                <c:formatCode>General</c:formatCode>
                <c:ptCount val="44"/>
                <c:pt idx="0">
                  <c:v>0.293916444</c:v>
                </c:pt>
                <c:pt idx="1">
                  <c:v>0.31918469</c:v>
                </c:pt>
                <c:pt idx="2">
                  <c:v>0.308869804</c:v>
                </c:pt>
                <c:pt idx="3">
                  <c:v>0.186916388</c:v>
                </c:pt>
                <c:pt idx="4">
                  <c:v>0.129738557</c:v>
                </c:pt>
                <c:pt idx="5">
                  <c:v>0.297868638</c:v>
                </c:pt>
                <c:pt idx="6">
                  <c:v>0.296094531</c:v>
                </c:pt>
                <c:pt idx="7">
                  <c:v>0.299903142</c:v>
                </c:pt>
                <c:pt idx="8">
                  <c:v>0.286198228</c:v>
                </c:pt>
                <c:pt idx="9">
                  <c:v>0.277018624</c:v>
                </c:pt>
                <c:pt idx="10">
                  <c:v>0.18656108</c:v>
                </c:pt>
                <c:pt idx="11">
                  <c:v>0.17817727</c:v>
                </c:pt>
                <c:pt idx="12">
                  <c:v>0.287460058</c:v>
                </c:pt>
                <c:pt idx="13">
                  <c:v>0.339034487</c:v>
                </c:pt>
                <c:pt idx="14">
                  <c:v>0.36105142</c:v>
                </c:pt>
                <c:pt idx="15">
                  <c:v>0.309257966</c:v>
                </c:pt>
                <c:pt idx="16">
                  <c:v>0.456517348</c:v>
                </c:pt>
                <c:pt idx="17">
                  <c:v>0.247083918</c:v>
                </c:pt>
                <c:pt idx="18">
                  <c:v>0.17869563</c:v>
                </c:pt>
                <c:pt idx="19">
                  <c:v>0.403123791</c:v>
                </c:pt>
                <c:pt idx="20">
                  <c:v>0.326227577</c:v>
                </c:pt>
                <c:pt idx="21">
                  <c:v>0.303164189</c:v>
                </c:pt>
                <c:pt idx="22">
                  <c:v>0.295062678</c:v>
                </c:pt>
                <c:pt idx="23">
                  <c:v>0.289305957</c:v>
                </c:pt>
                <c:pt idx="24">
                  <c:v>0.195188252</c:v>
                </c:pt>
                <c:pt idx="25">
                  <c:v>0.128507146</c:v>
                </c:pt>
                <c:pt idx="26">
                  <c:v>0.18463974</c:v>
                </c:pt>
                <c:pt idx="27">
                  <c:v>0.333670795</c:v>
                </c:pt>
                <c:pt idx="28">
                  <c:v>0.29785647</c:v>
                </c:pt>
                <c:pt idx="29">
                  <c:v>0.293830051</c:v>
                </c:pt>
                <c:pt idx="30">
                  <c:v>0.283355763</c:v>
                </c:pt>
                <c:pt idx="31">
                  <c:v>0.214014714</c:v>
                </c:pt>
                <c:pt idx="32">
                  <c:v>0.131286337</c:v>
                </c:pt>
                <c:pt idx="33">
                  <c:v>0.064337533</c:v>
                </c:pt>
                <c:pt idx="34">
                  <c:v>0.075504185</c:v>
                </c:pt>
                <c:pt idx="35">
                  <c:v>0.31672917</c:v>
                </c:pt>
                <c:pt idx="36">
                  <c:v>0.277807116</c:v>
                </c:pt>
                <c:pt idx="37">
                  <c:v>0.261212282</c:v>
                </c:pt>
                <c:pt idx="38">
                  <c:v>0.184335537</c:v>
                </c:pt>
                <c:pt idx="39">
                  <c:v>0.14743947</c:v>
                </c:pt>
                <c:pt idx="40">
                  <c:v>0.304267834</c:v>
                </c:pt>
                <c:pt idx="41">
                  <c:v>0.283056428</c:v>
                </c:pt>
                <c:pt idx="42">
                  <c:v>0.272172076</c:v>
                </c:pt>
                <c:pt idx="43">
                  <c:v>0.265141357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8764696"/>
        <c:axId val="2091054824"/>
      </c:lineChart>
      <c:catAx>
        <c:axId val="20887646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/>
                  <a:t>Week</a:t>
                </a:r>
              </a:p>
            </c:rich>
          </c:tx>
          <c:layout>
            <c:manualLayout>
              <c:xMode val="edge"/>
              <c:yMode val="edge"/>
              <c:x val="0.0976842529063428"/>
              <c:y val="0.870525240621207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1054824"/>
        <c:crosses val="autoZero"/>
        <c:auto val="1"/>
        <c:lblAlgn val="ctr"/>
        <c:lblOffset val="0"/>
        <c:tickLblSkip val="7"/>
        <c:noMultiLvlLbl val="0"/>
      </c:catAx>
      <c:valAx>
        <c:axId val="2091054824"/>
        <c:scaling>
          <c:orientation val="minMax"/>
          <c:max val="1.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 b="1" i="0" u="none" strike="noStrike" baseline="0">
                    <a:effectLst/>
                  </a:rPr>
                  <a:t>Normalized call volume</a:t>
                </a:r>
                <a:endParaRPr lang="en-US" sz="24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876469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Equipment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cat>
            <c:numRef>
              <c:f>Sheet2!$I$2:$I$72</c:f>
              <c:numCache>
                <c:formatCode>General</c:formatCode>
                <c:ptCount val="71"/>
                <c:pt idx="0">
                  <c:v>1.0</c:v>
                </c:pt>
                <c:pt idx="7">
                  <c:v>2.0</c:v>
                </c:pt>
                <c:pt idx="14">
                  <c:v>3.0</c:v>
                </c:pt>
                <c:pt idx="21">
                  <c:v>4.0</c:v>
                </c:pt>
                <c:pt idx="28">
                  <c:v>5.0</c:v>
                </c:pt>
                <c:pt idx="35">
                  <c:v>6.0</c:v>
                </c:pt>
                <c:pt idx="42">
                  <c:v>7.0</c:v>
                </c:pt>
                <c:pt idx="49">
                  <c:v>8.0</c:v>
                </c:pt>
                <c:pt idx="56">
                  <c:v>9.0</c:v>
                </c:pt>
                <c:pt idx="63">
                  <c:v>10.0</c:v>
                </c:pt>
                <c:pt idx="70">
                  <c:v>11.0</c:v>
                </c:pt>
              </c:numCache>
            </c:numRef>
          </c:cat>
          <c:val>
            <c:numRef>
              <c:f>Sheet2!$J$2:$J$72</c:f>
              <c:numCache>
                <c:formatCode>General</c:formatCode>
                <c:ptCount val="71"/>
                <c:pt idx="0">
                  <c:v>0.249026607150955</c:v>
                </c:pt>
                <c:pt idx="1">
                  <c:v>0.856793018781137</c:v>
                </c:pt>
                <c:pt idx="2">
                  <c:v>0.796679126958933</c:v>
                </c:pt>
                <c:pt idx="3">
                  <c:v>0.758456046696943</c:v>
                </c:pt>
                <c:pt idx="4">
                  <c:v>0.739467597841368</c:v>
                </c:pt>
                <c:pt idx="5">
                  <c:v>0.727897017951891</c:v>
                </c:pt>
                <c:pt idx="6">
                  <c:v>0.438114241660566</c:v>
                </c:pt>
                <c:pt idx="7">
                  <c:v>0.259696677183412</c:v>
                </c:pt>
                <c:pt idx="8">
                  <c:v>0.889017018988449</c:v>
                </c:pt>
                <c:pt idx="9">
                  <c:v>0.803261270949811</c:v>
                </c:pt>
                <c:pt idx="10">
                  <c:v>0.765582383694941</c:v>
                </c:pt>
                <c:pt idx="11">
                  <c:v>0.761397280330662</c:v>
                </c:pt>
                <c:pt idx="12">
                  <c:v>0.763781363980901</c:v>
                </c:pt>
                <c:pt idx="13">
                  <c:v>0.465952305370019</c:v>
                </c:pt>
                <c:pt idx="14">
                  <c:v>0.27096924661661</c:v>
                </c:pt>
                <c:pt idx="15">
                  <c:v>0.893707444430768</c:v>
                </c:pt>
                <c:pt idx="16">
                  <c:v>0.820746710547627</c:v>
                </c:pt>
                <c:pt idx="17">
                  <c:v>0.776349631050098</c:v>
                </c:pt>
                <c:pt idx="18">
                  <c:v>0.743905362244667</c:v>
                </c:pt>
                <c:pt idx="19">
                  <c:v>0.756130269440323</c:v>
                </c:pt>
                <c:pt idx="20">
                  <c:v>0.445849556547484</c:v>
                </c:pt>
                <c:pt idx="21">
                  <c:v>0.266071509552531</c:v>
                </c:pt>
                <c:pt idx="22">
                  <c:v>0.821439908782886</c:v>
                </c:pt>
                <c:pt idx="23">
                  <c:v>0.805800838316371</c:v>
                </c:pt>
                <c:pt idx="24">
                  <c:v>0.783793413968916</c:v>
                </c:pt>
                <c:pt idx="25">
                  <c:v>0.747125170870126</c:v>
                </c:pt>
                <c:pt idx="26">
                  <c:v>0.757536101375383</c:v>
                </c:pt>
                <c:pt idx="27">
                  <c:v>0.452036512759382</c:v>
                </c:pt>
                <c:pt idx="28">
                  <c:v>0.201513374838848</c:v>
                </c:pt>
                <c:pt idx="29">
                  <c:v>0.92453856967938</c:v>
                </c:pt>
                <c:pt idx="30">
                  <c:v>0.867424217884515</c:v>
                </c:pt>
                <c:pt idx="31">
                  <c:v>0.797158535084253</c:v>
                </c:pt>
                <c:pt idx="32">
                  <c:v>0.778111779835058</c:v>
                </c:pt>
                <c:pt idx="33">
                  <c:v>0.759706394915682</c:v>
                </c:pt>
                <c:pt idx="34">
                  <c:v>0.375460782471802</c:v>
                </c:pt>
                <c:pt idx="35">
                  <c:v>0.19166607280525</c:v>
                </c:pt>
                <c:pt idx="36">
                  <c:v>0.120299047014389</c:v>
                </c:pt>
                <c:pt idx="37">
                  <c:v>0.416787058572012</c:v>
                </c:pt>
                <c:pt idx="38">
                  <c:v>0.392350201157058</c:v>
                </c:pt>
                <c:pt idx="39">
                  <c:v>0.368055870482064</c:v>
                </c:pt>
                <c:pt idx="40">
                  <c:v>0.358195611472107</c:v>
                </c:pt>
                <c:pt idx="41">
                  <c:v>0.354412174374988</c:v>
                </c:pt>
                <c:pt idx="42">
                  <c:v>0.200671171375448</c:v>
                </c:pt>
                <c:pt idx="43">
                  <c:v>0.127159765997007</c:v>
                </c:pt>
                <c:pt idx="44">
                  <c:v>0.417622783547231</c:v>
                </c:pt>
                <c:pt idx="45">
                  <c:v>0.3848869827737</c:v>
                </c:pt>
                <c:pt idx="46">
                  <c:v>0.368438101284684</c:v>
                </c:pt>
                <c:pt idx="47">
                  <c:v>0.350363119262489</c:v>
                </c:pt>
                <c:pt idx="48">
                  <c:v>0.357217359756927</c:v>
                </c:pt>
                <c:pt idx="49">
                  <c:v>0.204908102645167</c:v>
                </c:pt>
                <c:pt idx="50">
                  <c:v>0.126622051478067</c:v>
                </c:pt>
                <c:pt idx="51">
                  <c:v>0.42140622064435</c:v>
                </c:pt>
                <c:pt idx="52">
                  <c:v>0.401756965994416</c:v>
                </c:pt>
                <c:pt idx="53">
                  <c:v>0.381654217171881</c:v>
                </c:pt>
                <c:pt idx="54">
                  <c:v>0.360644480004146</c:v>
                </c:pt>
                <c:pt idx="55">
                  <c:v>0.362983214237126</c:v>
                </c:pt>
                <c:pt idx="56">
                  <c:v>0.19215195941875</c:v>
                </c:pt>
                <c:pt idx="57">
                  <c:v>0.107283764260772</c:v>
                </c:pt>
                <c:pt idx="58">
                  <c:v>0.156312962806999</c:v>
                </c:pt>
                <c:pt idx="59">
                  <c:v>0.42219011771413</c:v>
                </c:pt>
                <c:pt idx="60">
                  <c:v>0.397792131228257</c:v>
                </c:pt>
                <c:pt idx="61">
                  <c:v>0.365762485666345</c:v>
                </c:pt>
                <c:pt idx="62">
                  <c:v>0.361117409641286</c:v>
                </c:pt>
                <c:pt idx="63">
                  <c:v>0.202673024223067</c:v>
                </c:pt>
                <c:pt idx="64">
                  <c:v>0.122048238822988</c:v>
                </c:pt>
                <c:pt idx="65">
                  <c:v>0.407807873954534</c:v>
                </c:pt>
                <c:pt idx="66">
                  <c:v>0.375246992361862</c:v>
                </c:pt>
                <c:pt idx="67">
                  <c:v>0.358934159124627</c:v>
                </c:pt>
                <c:pt idx="68">
                  <c:v>0.34552368859203</c:v>
                </c:pt>
                <c:pt idx="69">
                  <c:v>0.354930453429388</c:v>
                </c:pt>
                <c:pt idx="70">
                  <c:v>0.197742894718089</c:v>
                </c:pt>
              </c:numCache>
            </c:numRef>
          </c:val>
          <c:smooth val="0"/>
        </c:ser>
        <c:ser>
          <c:idx val="1"/>
          <c:order val="1"/>
          <c:tx>
            <c:v>Equipment problem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Sheet2!$I$2:$I$72</c:f>
              <c:numCache>
                <c:formatCode>General</c:formatCode>
                <c:ptCount val="71"/>
                <c:pt idx="0">
                  <c:v>1.0</c:v>
                </c:pt>
                <c:pt idx="7">
                  <c:v>2.0</c:v>
                </c:pt>
                <c:pt idx="14">
                  <c:v>3.0</c:v>
                </c:pt>
                <c:pt idx="21">
                  <c:v>4.0</c:v>
                </c:pt>
                <c:pt idx="28">
                  <c:v>5.0</c:v>
                </c:pt>
                <c:pt idx="35">
                  <c:v>6.0</c:v>
                </c:pt>
                <c:pt idx="42">
                  <c:v>7.0</c:v>
                </c:pt>
                <c:pt idx="49">
                  <c:v>8.0</c:v>
                </c:pt>
                <c:pt idx="56">
                  <c:v>9.0</c:v>
                </c:pt>
                <c:pt idx="63">
                  <c:v>10.0</c:v>
                </c:pt>
                <c:pt idx="70">
                  <c:v>11.0</c:v>
                </c:pt>
              </c:numCache>
            </c:numRef>
          </c:cat>
          <c:val>
            <c:numRef>
              <c:f>Sheet2!$K$2:$K$72</c:f>
              <c:numCache>
                <c:formatCode>General</c:formatCode>
                <c:ptCount val="71"/>
                <c:pt idx="0">
                  <c:v>0.267250594401291</c:v>
                </c:pt>
                <c:pt idx="1">
                  <c:v>0.642912210006673</c:v>
                </c:pt>
                <c:pt idx="2">
                  <c:v>0.596325401504305</c:v>
                </c:pt>
                <c:pt idx="3">
                  <c:v>0.581366572296689</c:v>
                </c:pt>
                <c:pt idx="4">
                  <c:v>0.556068075953795</c:v>
                </c:pt>
                <c:pt idx="5">
                  <c:v>0.522587249039564</c:v>
                </c:pt>
                <c:pt idx="6">
                  <c:v>0.356077145837247</c:v>
                </c:pt>
                <c:pt idx="7">
                  <c:v>0.255200606386494</c:v>
                </c:pt>
                <c:pt idx="8">
                  <c:v>0.636479071243935</c:v>
                </c:pt>
                <c:pt idx="9">
                  <c:v>0.580660417085069</c:v>
                </c:pt>
                <c:pt idx="10">
                  <c:v>0.555964420142915</c:v>
                </c:pt>
                <c:pt idx="11">
                  <c:v>0.534021780677261</c:v>
                </c:pt>
                <c:pt idx="12">
                  <c:v>0.522179104284224</c:v>
                </c:pt>
                <c:pt idx="13">
                  <c:v>0.355818006310048</c:v>
                </c:pt>
                <c:pt idx="14">
                  <c:v>0.257273722604093</c:v>
                </c:pt>
                <c:pt idx="15">
                  <c:v>0.626631769210337</c:v>
                </c:pt>
                <c:pt idx="16">
                  <c:v>0.573935746354231</c:v>
                </c:pt>
                <c:pt idx="17">
                  <c:v>0.555115738191336</c:v>
                </c:pt>
                <c:pt idx="18">
                  <c:v>0.541284165927039</c:v>
                </c:pt>
                <c:pt idx="19">
                  <c:v>0.510893577874667</c:v>
                </c:pt>
                <c:pt idx="20">
                  <c:v>0.34475274849861</c:v>
                </c:pt>
                <c:pt idx="21">
                  <c:v>0.250296390834235</c:v>
                </c:pt>
                <c:pt idx="22">
                  <c:v>0.587087077359627</c:v>
                </c:pt>
                <c:pt idx="23">
                  <c:v>0.560635410120694</c:v>
                </c:pt>
                <c:pt idx="24">
                  <c:v>0.543266583310119</c:v>
                </c:pt>
                <c:pt idx="25">
                  <c:v>0.522276281606924</c:v>
                </c:pt>
                <c:pt idx="26">
                  <c:v>0.507408151233828</c:v>
                </c:pt>
                <c:pt idx="27">
                  <c:v>0.335747649928413</c:v>
                </c:pt>
                <c:pt idx="28">
                  <c:v>0.181067266142773</c:v>
                </c:pt>
                <c:pt idx="29">
                  <c:v>0.590313364473267</c:v>
                </c:pt>
                <c:pt idx="30">
                  <c:v>0.557791353809675</c:v>
                </c:pt>
                <c:pt idx="31">
                  <c:v>0.53779226079802</c:v>
                </c:pt>
                <c:pt idx="32">
                  <c:v>0.515078681238946</c:v>
                </c:pt>
                <c:pt idx="33">
                  <c:v>0.507596027391048</c:v>
                </c:pt>
                <c:pt idx="34">
                  <c:v>0.241291292264037</c:v>
                </c:pt>
                <c:pt idx="35">
                  <c:v>0.149724340327941</c:v>
                </c:pt>
                <c:pt idx="36">
                  <c:v>0.120363831896189</c:v>
                </c:pt>
                <c:pt idx="37">
                  <c:v>0.273152497133269</c:v>
                </c:pt>
                <c:pt idx="38">
                  <c:v>0.265015515979191</c:v>
                </c:pt>
                <c:pt idx="39">
                  <c:v>0.253976172120474</c:v>
                </c:pt>
                <c:pt idx="40">
                  <c:v>0.243357929993457</c:v>
                </c:pt>
                <c:pt idx="41">
                  <c:v>0.234819282572219</c:v>
                </c:pt>
                <c:pt idx="42">
                  <c:v>0.155794683752599</c:v>
                </c:pt>
                <c:pt idx="43">
                  <c:v>0.118400849977649</c:v>
                </c:pt>
                <c:pt idx="44">
                  <c:v>0.265384789805451</c:v>
                </c:pt>
                <c:pt idx="45">
                  <c:v>0.251307034990315</c:v>
                </c:pt>
                <c:pt idx="46">
                  <c:v>0.242684167222737</c:v>
                </c:pt>
                <c:pt idx="47">
                  <c:v>0.233245009944479</c:v>
                </c:pt>
                <c:pt idx="48">
                  <c:v>0.227239451401621</c:v>
                </c:pt>
                <c:pt idx="49">
                  <c:v>0.147528132834922</c:v>
                </c:pt>
                <c:pt idx="50">
                  <c:v>0.11435179486515</c:v>
                </c:pt>
                <c:pt idx="51">
                  <c:v>0.255634665094554</c:v>
                </c:pt>
                <c:pt idx="52">
                  <c:v>0.242243630026497</c:v>
                </c:pt>
                <c:pt idx="53">
                  <c:v>0.2298049327209</c:v>
                </c:pt>
                <c:pt idx="54">
                  <c:v>0.227744773479661</c:v>
                </c:pt>
                <c:pt idx="55">
                  <c:v>0.220916446937943</c:v>
                </c:pt>
                <c:pt idx="56">
                  <c:v>0.143595690509663</c:v>
                </c:pt>
                <c:pt idx="57">
                  <c:v>0.103267101589173</c:v>
                </c:pt>
                <c:pt idx="58">
                  <c:v>0.129479064765446</c:v>
                </c:pt>
                <c:pt idx="59">
                  <c:v>0.247698517074056</c:v>
                </c:pt>
                <c:pt idx="60">
                  <c:v>0.236898877277998</c:v>
                </c:pt>
                <c:pt idx="61">
                  <c:v>0.224596228224182</c:v>
                </c:pt>
                <c:pt idx="62">
                  <c:v>0.220417603348083</c:v>
                </c:pt>
                <c:pt idx="63">
                  <c:v>0.145824290443582</c:v>
                </c:pt>
                <c:pt idx="64">
                  <c:v>0.111630829829551</c:v>
                </c:pt>
                <c:pt idx="65">
                  <c:v>0.237818822599558</c:v>
                </c:pt>
                <c:pt idx="66">
                  <c:v>0.228146439746821</c:v>
                </c:pt>
                <c:pt idx="67">
                  <c:v>0.221505989362322</c:v>
                </c:pt>
                <c:pt idx="68">
                  <c:v>0.205879875872166</c:v>
                </c:pt>
                <c:pt idx="69">
                  <c:v>0.207920599648866</c:v>
                </c:pt>
                <c:pt idx="70">
                  <c:v>0.136624837227984</c:v>
                </c:pt>
              </c:numCache>
            </c:numRef>
          </c:val>
          <c:smooth val="0"/>
        </c:ser>
        <c:ser>
          <c:idx val="2"/>
          <c:order val="2"/>
          <c:tx>
            <c:v>Troubleshooting - Equipment</c:v>
          </c:tx>
          <c:spPr>
            <a:ln>
              <a:solidFill>
                <a:srgbClr val="8DBB63"/>
              </a:solidFill>
            </a:ln>
          </c:spPr>
          <c:marker>
            <c:symbol val="none"/>
          </c:marker>
          <c:cat>
            <c:numRef>
              <c:f>Sheet2!$I$2:$I$72</c:f>
              <c:numCache>
                <c:formatCode>General</c:formatCode>
                <c:ptCount val="71"/>
                <c:pt idx="0">
                  <c:v>1.0</c:v>
                </c:pt>
                <c:pt idx="7">
                  <c:v>2.0</c:v>
                </c:pt>
                <c:pt idx="14">
                  <c:v>3.0</c:v>
                </c:pt>
                <c:pt idx="21">
                  <c:v>4.0</c:v>
                </c:pt>
                <c:pt idx="28">
                  <c:v>5.0</c:v>
                </c:pt>
                <c:pt idx="35">
                  <c:v>6.0</c:v>
                </c:pt>
                <c:pt idx="42">
                  <c:v>7.0</c:v>
                </c:pt>
                <c:pt idx="49">
                  <c:v>8.0</c:v>
                </c:pt>
                <c:pt idx="56">
                  <c:v>9.0</c:v>
                </c:pt>
                <c:pt idx="63">
                  <c:v>10.0</c:v>
                </c:pt>
                <c:pt idx="70">
                  <c:v>11.0</c:v>
                </c:pt>
              </c:numCache>
            </c:numRef>
          </c:cat>
          <c:val>
            <c:numRef>
              <c:f>Sheet2!$L$2:$L$72</c:f>
              <c:numCache>
                <c:formatCode>General</c:formatCode>
                <c:ptCount val="71"/>
                <c:pt idx="0">
                  <c:v>0.0931671385165558</c:v>
                </c:pt>
                <c:pt idx="1">
                  <c:v>0.266667530465091</c:v>
                </c:pt>
                <c:pt idx="2">
                  <c:v>0.233789202951599</c:v>
                </c:pt>
                <c:pt idx="3">
                  <c:v>0.228690632753941</c:v>
                </c:pt>
                <c:pt idx="4">
                  <c:v>0.212293579170365</c:v>
                </c:pt>
                <c:pt idx="5">
                  <c:v>0.200917353926288</c:v>
                </c:pt>
                <c:pt idx="6">
                  <c:v>0.131370783314006</c:v>
                </c:pt>
                <c:pt idx="7">
                  <c:v>0.088392492727897</c:v>
                </c:pt>
                <c:pt idx="8">
                  <c:v>0.242133495727437</c:v>
                </c:pt>
                <c:pt idx="9">
                  <c:v>0.213077476240145</c:v>
                </c:pt>
                <c:pt idx="10">
                  <c:v>0.210233419929125</c:v>
                </c:pt>
                <c:pt idx="11">
                  <c:v>0.202089960286867</c:v>
                </c:pt>
                <c:pt idx="12">
                  <c:v>0.19237222801687</c:v>
                </c:pt>
                <c:pt idx="13">
                  <c:v>0.129984386843486</c:v>
                </c:pt>
                <c:pt idx="14">
                  <c:v>0.0854383021178178</c:v>
                </c:pt>
                <c:pt idx="15">
                  <c:v>0.23123667860868</c:v>
                </c:pt>
                <c:pt idx="16">
                  <c:v>0.205504123557727</c:v>
                </c:pt>
                <c:pt idx="17">
                  <c:v>0.200211198714668</c:v>
                </c:pt>
                <c:pt idx="18">
                  <c:v>0.19066190713735</c:v>
                </c:pt>
                <c:pt idx="19">
                  <c:v>0.187876157219951</c:v>
                </c:pt>
                <c:pt idx="20">
                  <c:v>0.120137084809889</c:v>
                </c:pt>
                <c:pt idx="21">
                  <c:v>0.0843758300562981</c:v>
                </c:pt>
                <c:pt idx="22">
                  <c:v>0.212954384964725</c:v>
                </c:pt>
                <c:pt idx="23">
                  <c:v>0.203262566647447</c:v>
                </c:pt>
                <c:pt idx="24">
                  <c:v>0.196822949396529</c:v>
                </c:pt>
                <c:pt idx="25">
                  <c:v>0.190052929248431</c:v>
                </c:pt>
                <c:pt idx="26">
                  <c:v>0.184688741035392</c:v>
                </c:pt>
                <c:pt idx="27">
                  <c:v>0.118349022072209</c:v>
                </c:pt>
                <c:pt idx="28">
                  <c:v>0.0710107089409615</c:v>
                </c:pt>
                <c:pt idx="29">
                  <c:v>0.219296824892943</c:v>
                </c:pt>
                <c:pt idx="30">
                  <c:v>0.195883568610429</c:v>
                </c:pt>
                <c:pt idx="31">
                  <c:v>0.197224615663689</c:v>
                </c:pt>
                <c:pt idx="32">
                  <c:v>0.184053849193752</c:v>
                </c:pt>
                <c:pt idx="33">
                  <c:v>0.178223209831754</c:v>
                </c:pt>
                <c:pt idx="34">
                  <c:v>0.815285345011888</c:v>
                </c:pt>
                <c:pt idx="35">
                  <c:v>0.531877401089682</c:v>
                </c:pt>
                <c:pt idx="36">
                  <c:v>0.327215480995355</c:v>
                </c:pt>
                <c:pt idx="37">
                  <c:v>1.0</c:v>
                </c:pt>
                <c:pt idx="38">
                  <c:v>0.913188258388023</c:v>
                </c:pt>
                <c:pt idx="39">
                  <c:v>0.877964718153372</c:v>
                </c:pt>
                <c:pt idx="40">
                  <c:v>0.856870760639297</c:v>
                </c:pt>
                <c:pt idx="41">
                  <c:v>0.823409369189606</c:v>
                </c:pt>
                <c:pt idx="42">
                  <c:v>0.516095803883206</c:v>
                </c:pt>
                <c:pt idx="43">
                  <c:v>0.336265928982813</c:v>
                </c:pt>
                <c:pt idx="44">
                  <c:v>0.966519173085769</c:v>
                </c:pt>
                <c:pt idx="45">
                  <c:v>0.910609820092383</c:v>
                </c:pt>
                <c:pt idx="46">
                  <c:v>0.869115103299494</c:v>
                </c:pt>
                <c:pt idx="47">
                  <c:v>0.833574117144023</c:v>
                </c:pt>
                <c:pt idx="48">
                  <c:v>0.815343651405508</c:v>
                </c:pt>
                <c:pt idx="49">
                  <c:v>0.516814916071186</c:v>
                </c:pt>
                <c:pt idx="50">
                  <c:v>0.341111838141451</c:v>
                </c:pt>
                <c:pt idx="51">
                  <c:v>0.944686667919174</c:v>
                </c:pt>
                <c:pt idx="52">
                  <c:v>0.862630136631316</c:v>
                </c:pt>
                <c:pt idx="53">
                  <c:v>0.848435769028939</c:v>
                </c:pt>
                <c:pt idx="54">
                  <c:v>0.821452865759246</c:v>
                </c:pt>
                <c:pt idx="55">
                  <c:v>0.798240442610312</c:v>
                </c:pt>
                <c:pt idx="56">
                  <c:v>0.505477561756189</c:v>
                </c:pt>
                <c:pt idx="57">
                  <c:v>0.310559287884579</c:v>
                </c:pt>
                <c:pt idx="58">
                  <c:v>0.520494697357425</c:v>
                </c:pt>
                <c:pt idx="59">
                  <c:v>0.930408079970458</c:v>
                </c:pt>
                <c:pt idx="60">
                  <c:v>0.875088269401452</c:v>
                </c:pt>
                <c:pt idx="61">
                  <c:v>0.857855490842657</c:v>
                </c:pt>
                <c:pt idx="62">
                  <c:v>0.803526888965191</c:v>
                </c:pt>
                <c:pt idx="63">
                  <c:v>0.496038404477931</c:v>
                </c:pt>
                <c:pt idx="64">
                  <c:v>0.333849452891673</c:v>
                </c:pt>
                <c:pt idx="65">
                  <c:v>0.907461274836904</c:v>
                </c:pt>
                <c:pt idx="66">
                  <c:v>0.837616693768342</c:v>
                </c:pt>
                <c:pt idx="67">
                  <c:v>0.801395466353972</c:v>
                </c:pt>
                <c:pt idx="68">
                  <c:v>0.764312600011661</c:v>
                </c:pt>
                <c:pt idx="69">
                  <c:v>0.764202465712601</c:v>
                </c:pt>
                <c:pt idx="70">
                  <c:v>0.494276255692972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9825672"/>
        <c:axId val="2089820168"/>
      </c:lineChart>
      <c:catAx>
        <c:axId val="20898256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/>
                  <a:t>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820168"/>
        <c:crosses val="autoZero"/>
        <c:auto val="1"/>
        <c:lblAlgn val="ctr"/>
        <c:lblOffset val="100"/>
        <c:noMultiLvlLbl val="0"/>
      </c:catAx>
      <c:valAx>
        <c:axId val="2089820168"/>
        <c:scaling>
          <c:orientation val="minMax"/>
          <c:max val="1.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/>
                  <a:t>Normalized Call Volume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89825672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L1-norm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Sheet3!$B$2:$B$4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L2-norm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Sheet3!$C$2:$C$4</c:f>
              <c:numCache>
                <c:formatCode>General</c:formatCode>
                <c:ptCount val="3"/>
                <c:pt idx="0">
                  <c:v>0.375</c:v>
                </c:pt>
                <c:pt idx="1">
                  <c:v>0.6</c:v>
                </c:pt>
                <c:pt idx="2">
                  <c:v>0.461538462</c:v>
                </c:pt>
              </c:numCache>
            </c:numRef>
          </c:val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 PCA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Sheet3!$D$2:$D$4</c:f>
              <c:numCache>
                <c:formatCode>General</c:formatCode>
                <c:ptCount val="3"/>
                <c:pt idx="0">
                  <c:v>0.318182</c:v>
                </c:pt>
                <c:pt idx="1">
                  <c:v>0.5</c:v>
                </c:pt>
                <c:pt idx="2">
                  <c:v>0.388889025</c:v>
                </c:pt>
              </c:numCache>
            </c:numRef>
          </c:val>
        </c:ser>
        <c:ser>
          <c:idx val="4"/>
          <c:order val="3"/>
          <c:tx>
            <c:strRef>
              <c:f>Sheet3!$F$1</c:f>
              <c:strCache>
                <c:ptCount val="1"/>
                <c:pt idx="0">
                  <c:v> rand 2000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Sheet3!$F$2:$F$4</c:f>
              <c:numCache>
                <c:formatCode>General</c:formatCode>
                <c:ptCount val="3"/>
                <c:pt idx="0">
                  <c:v>0.0833333</c:v>
                </c:pt>
                <c:pt idx="1">
                  <c:v>0.0588235</c:v>
                </c:pt>
                <c:pt idx="2">
                  <c:v>0.068965486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292392"/>
        <c:axId val="2095295512"/>
      </c:barChart>
      <c:catAx>
        <c:axId val="209529239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295512"/>
        <c:crosses val="autoZero"/>
        <c:auto val="1"/>
        <c:lblAlgn val="ctr"/>
        <c:lblOffset val="100"/>
        <c:noMultiLvlLbl val="0"/>
      </c:catAx>
      <c:valAx>
        <c:axId val="2095295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292392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L1-norm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Sheet3!$B$2:$B$4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L2-norm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Sheet3!$C$2:$C$4</c:f>
              <c:numCache>
                <c:formatCode>General</c:formatCode>
                <c:ptCount val="3"/>
                <c:pt idx="0">
                  <c:v>0.375</c:v>
                </c:pt>
                <c:pt idx="1">
                  <c:v>0.6</c:v>
                </c:pt>
                <c:pt idx="2">
                  <c:v>0.461538462</c:v>
                </c:pt>
              </c:numCache>
            </c:numRef>
          </c:val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 PCA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Sheet3!$D$2:$D$4</c:f>
              <c:numCache>
                <c:formatCode>General</c:formatCode>
                <c:ptCount val="3"/>
                <c:pt idx="0">
                  <c:v>0.318182</c:v>
                </c:pt>
                <c:pt idx="1">
                  <c:v>0.5</c:v>
                </c:pt>
                <c:pt idx="2">
                  <c:v>0.388889025</c:v>
                </c:pt>
              </c:numCache>
            </c:numRef>
          </c:val>
        </c:ser>
        <c:ser>
          <c:idx val="4"/>
          <c:order val="3"/>
          <c:tx>
            <c:strRef>
              <c:f>Sheet3!$F$1</c:f>
              <c:strCache>
                <c:ptCount val="1"/>
                <c:pt idx="0">
                  <c:v> rand 2000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Sheet3!$F$2:$F$4</c:f>
              <c:numCache>
                <c:formatCode>General</c:formatCode>
                <c:ptCount val="3"/>
                <c:pt idx="0">
                  <c:v>0.0833333</c:v>
                </c:pt>
                <c:pt idx="1">
                  <c:v>0.0588235</c:v>
                </c:pt>
                <c:pt idx="2">
                  <c:v>0.068965486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342616"/>
        <c:axId val="2095345736"/>
      </c:barChart>
      <c:catAx>
        <c:axId val="209534261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345736"/>
        <c:crosses val="autoZero"/>
        <c:auto val="1"/>
        <c:lblAlgn val="ctr"/>
        <c:lblOffset val="100"/>
        <c:noMultiLvlLbl val="0"/>
      </c:catAx>
      <c:valAx>
        <c:axId val="20953457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342616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L1-norm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Sheet3!$B$2:$B$4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L2-norm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Sheet3!$C$2:$C$4</c:f>
              <c:numCache>
                <c:formatCode>General</c:formatCode>
                <c:ptCount val="3"/>
                <c:pt idx="0">
                  <c:v>0.375</c:v>
                </c:pt>
                <c:pt idx="1">
                  <c:v>0.6</c:v>
                </c:pt>
                <c:pt idx="2">
                  <c:v>0.461538462</c:v>
                </c:pt>
              </c:numCache>
            </c:numRef>
          </c:val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 PCA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Sheet3!$D$2:$D$4</c:f>
              <c:numCache>
                <c:formatCode>General</c:formatCode>
                <c:ptCount val="3"/>
                <c:pt idx="0">
                  <c:v>0.318182</c:v>
                </c:pt>
                <c:pt idx="1">
                  <c:v>0.5</c:v>
                </c:pt>
                <c:pt idx="2">
                  <c:v>0.388889025</c:v>
                </c:pt>
              </c:numCache>
            </c:numRef>
          </c:val>
        </c:ser>
        <c:ser>
          <c:idx val="4"/>
          <c:order val="3"/>
          <c:tx>
            <c:strRef>
              <c:f>Sheet3!$F$1</c:f>
              <c:strCache>
                <c:ptCount val="1"/>
                <c:pt idx="0">
                  <c:v> rand 2000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Sheet3!$F$2:$F$4</c:f>
              <c:numCache>
                <c:formatCode>General</c:formatCode>
                <c:ptCount val="3"/>
                <c:pt idx="0">
                  <c:v>0.0833333</c:v>
                </c:pt>
                <c:pt idx="1">
                  <c:v>0.0588235</c:v>
                </c:pt>
                <c:pt idx="2">
                  <c:v>0.068965486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406328"/>
        <c:axId val="2095409448"/>
      </c:barChart>
      <c:catAx>
        <c:axId val="209540632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409448"/>
        <c:crosses val="autoZero"/>
        <c:auto val="1"/>
        <c:lblAlgn val="ctr"/>
        <c:lblOffset val="100"/>
        <c:noMultiLvlLbl val="0"/>
      </c:catAx>
      <c:valAx>
        <c:axId val="20954094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406328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L1-norm</c:v>
                </c:pt>
              </c:strCache>
            </c:strRef>
          </c:tx>
          <c:spPr>
            <a:solidFill>
              <a:srgbClr val="0000FF"/>
            </a:solidFill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Sheet3!$B$2:$B$4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L2-norm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Sheet3!$C$2:$C$4</c:f>
              <c:numCache>
                <c:formatCode>General</c:formatCode>
                <c:ptCount val="3"/>
                <c:pt idx="0">
                  <c:v>0.375</c:v>
                </c:pt>
                <c:pt idx="1">
                  <c:v>0.6</c:v>
                </c:pt>
                <c:pt idx="2">
                  <c:v>0.461538462</c:v>
                </c:pt>
              </c:numCache>
            </c:numRef>
          </c:val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 PCA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Sheet3!$D$2:$D$4</c:f>
              <c:numCache>
                <c:formatCode>General</c:formatCode>
                <c:ptCount val="3"/>
                <c:pt idx="0">
                  <c:v>0.318182</c:v>
                </c:pt>
                <c:pt idx="1">
                  <c:v>0.5</c:v>
                </c:pt>
                <c:pt idx="2">
                  <c:v>0.388889025</c:v>
                </c:pt>
              </c:numCache>
            </c:numRef>
          </c:val>
        </c:ser>
        <c:ser>
          <c:idx val="4"/>
          <c:order val="3"/>
          <c:tx>
            <c:strRef>
              <c:f>Sheet3!$F$1</c:f>
              <c:strCache>
                <c:ptCount val="1"/>
                <c:pt idx="0">
                  <c:v> rand 2000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Sheet3!$F$2:$F$4</c:f>
              <c:numCache>
                <c:formatCode>General</c:formatCode>
                <c:ptCount val="3"/>
                <c:pt idx="0">
                  <c:v>0.0833333</c:v>
                </c:pt>
                <c:pt idx="1">
                  <c:v>0.0588235</c:v>
                </c:pt>
                <c:pt idx="2">
                  <c:v>0.068965486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453112"/>
        <c:axId val="2095456232"/>
      </c:barChart>
      <c:catAx>
        <c:axId val="209545311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456232"/>
        <c:crosses val="autoZero"/>
        <c:auto val="1"/>
        <c:lblAlgn val="ctr"/>
        <c:lblOffset val="100"/>
        <c:noMultiLvlLbl val="0"/>
      </c:catAx>
      <c:valAx>
        <c:axId val="20954562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453112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Sheet3!$B$30</c:f>
              <c:strCache>
                <c:ptCount val="1"/>
                <c:pt idx="0">
                  <c:v>Fit+Temp+LR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Sheet3!$B$31:$B$33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3"/>
          <c:order val="1"/>
          <c:tx>
            <c:strRef>
              <c:f>Sheet3!$E$30</c:f>
              <c:strCache>
                <c:ptCount val="1"/>
                <c:pt idx="0">
                  <c:v>Fit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Sheet3!$E$31:$E$33</c:f>
              <c:numCache>
                <c:formatCode>General</c:formatCode>
                <c:ptCount val="3"/>
                <c:pt idx="0">
                  <c:v>0.221154</c:v>
                </c:pt>
                <c:pt idx="1">
                  <c:v>0.657143</c:v>
                </c:pt>
                <c:pt idx="2">
                  <c:v>0.330935442</c:v>
                </c:pt>
              </c:numCache>
            </c:numRef>
          </c:val>
        </c:ser>
        <c:ser>
          <c:idx val="4"/>
          <c:order val="2"/>
          <c:tx>
            <c:strRef>
              <c:f>Sheet3!$G$30</c:f>
              <c:strCache>
                <c:ptCount val="1"/>
                <c:pt idx="0">
                  <c:v>Rand 0.3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Sheet3!$G$31:$G$33</c:f>
              <c:numCache>
                <c:formatCode>General</c:formatCode>
                <c:ptCount val="3"/>
                <c:pt idx="0">
                  <c:v>0.0352941</c:v>
                </c:pt>
                <c:pt idx="1">
                  <c:v>0.176471</c:v>
                </c:pt>
                <c:pt idx="2">
                  <c:v>0.058823528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518088"/>
        <c:axId val="2095521096"/>
      </c:barChart>
      <c:catAx>
        <c:axId val="209551808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521096"/>
        <c:crosses val="autoZero"/>
        <c:auto val="1"/>
        <c:lblAlgn val="ctr"/>
        <c:lblOffset val="100"/>
        <c:noMultiLvlLbl val="0"/>
      </c:catAx>
      <c:valAx>
        <c:axId val="2095521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518088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Sheet3!$B$30</c:f>
              <c:strCache>
                <c:ptCount val="1"/>
                <c:pt idx="0">
                  <c:v>Fit+Temp+LR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Sheet3!$B$31:$B$33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3"/>
          <c:order val="1"/>
          <c:tx>
            <c:strRef>
              <c:f>Sheet3!$E$30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Sheet3!$E$31:$E$33</c:f>
              <c:numCache>
                <c:formatCode>General</c:formatCode>
                <c:ptCount val="3"/>
                <c:pt idx="0">
                  <c:v>0.221154</c:v>
                </c:pt>
                <c:pt idx="1">
                  <c:v>0.657143</c:v>
                </c:pt>
                <c:pt idx="2">
                  <c:v>0.330935442</c:v>
                </c:pt>
              </c:numCache>
            </c:numRef>
          </c:val>
        </c:ser>
        <c:ser>
          <c:idx val="4"/>
          <c:order val="2"/>
          <c:tx>
            <c:strRef>
              <c:f>Sheet3!$G$30</c:f>
              <c:strCache>
                <c:ptCount val="1"/>
                <c:pt idx="0">
                  <c:v>Rand 0.3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Sheet3!$G$31:$G$33</c:f>
              <c:numCache>
                <c:formatCode>General</c:formatCode>
                <c:ptCount val="3"/>
                <c:pt idx="0">
                  <c:v>0.0352941</c:v>
                </c:pt>
                <c:pt idx="1">
                  <c:v>0.176471</c:v>
                </c:pt>
                <c:pt idx="2">
                  <c:v>0.058823528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829496"/>
        <c:axId val="2093070712"/>
      </c:barChart>
      <c:catAx>
        <c:axId val="209482949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3070712"/>
        <c:crosses val="autoZero"/>
        <c:auto val="1"/>
        <c:lblAlgn val="ctr"/>
        <c:lblOffset val="100"/>
        <c:noMultiLvlLbl val="0"/>
      </c:catAx>
      <c:valAx>
        <c:axId val="20930707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4829496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Sheet3!$B$30</c:f>
              <c:strCache>
                <c:ptCount val="1"/>
                <c:pt idx="0">
                  <c:v>Fit+Temp+LR</c:v>
                </c:pt>
              </c:strCache>
            </c:strRef>
          </c:tx>
          <c:spPr>
            <a:solidFill>
              <a:srgbClr val="0000FF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Sheet3!$B$31:$B$33</c:f>
              <c:numCache>
                <c:formatCode>General</c:formatCode>
                <c:ptCount val="3"/>
                <c:pt idx="0">
                  <c:v>0.461538</c:v>
                </c:pt>
                <c:pt idx="1">
                  <c:v>0.658537</c:v>
                </c:pt>
                <c:pt idx="2">
                  <c:v>0.54271339</c:v>
                </c:pt>
              </c:numCache>
            </c:numRef>
          </c:val>
        </c:ser>
        <c:ser>
          <c:idx val="3"/>
          <c:order val="1"/>
          <c:tx>
            <c:strRef>
              <c:f>Sheet3!$E$30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Sheet3!$E$31:$E$33</c:f>
              <c:numCache>
                <c:formatCode>General</c:formatCode>
                <c:ptCount val="3"/>
                <c:pt idx="0">
                  <c:v>0.221154</c:v>
                </c:pt>
                <c:pt idx="1">
                  <c:v>0.657143</c:v>
                </c:pt>
                <c:pt idx="2">
                  <c:v>0.330935442</c:v>
                </c:pt>
              </c:numCache>
            </c:numRef>
          </c:val>
        </c:ser>
        <c:ser>
          <c:idx val="4"/>
          <c:order val="2"/>
          <c:tx>
            <c:strRef>
              <c:f>Sheet3!$G$30</c:f>
              <c:strCache>
                <c:ptCount val="1"/>
                <c:pt idx="0">
                  <c:v>Rand 0.3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Sheet3!$G$31:$G$33</c:f>
              <c:numCache>
                <c:formatCode>General</c:formatCode>
                <c:ptCount val="3"/>
                <c:pt idx="0">
                  <c:v>0.0352941</c:v>
                </c:pt>
                <c:pt idx="1">
                  <c:v>0.176471</c:v>
                </c:pt>
                <c:pt idx="2">
                  <c:v>0.058823528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2970104"/>
        <c:axId val="2094402504"/>
      </c:barChart>
      <c:catAx>
        <c:axId val="20929701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4402504"/>
        <c:crosses val="autoZero"/>
        <c:auto val="1"/>
        <c:lblAlgn val="ctr"/>
        <c:lblOffset val="100"/>
        <c:noMultiLvlLbl val="0"/>
      </c:catAx>
      <c:valAx>
        <c:axId val="20944025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2970104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Sheet3!$B$60</c:f>
              <c:strCache>
                <c:ptCount val="1"/>
                <c:pt idx="0">
                  <c:v>50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Sheet3!$B$61:$B$63</c:f>
              <c:numCache>
                <c:formatCode>General</c:formatCode>
                <c:ptCount val="3"/>
                <c:pt idx="0">
                  <c:v>0.517857</c:v>
                </c:pt>
                <c:pt idx="1">
                  <c:v>0.659091</c:v>
                </c:pt>
                <c:pt idx="2">
                  <c:v>0.579999946</c:v>
                </c:pt>
              </c:numCache>
            </c:numRef>
          </c:val>
        </c:ser>
        <c:ser>
          <c:idx val="1"/>
          <c:order val="1"/>
          <c:tx>
            <c:strRef>
              <c:f>Sheet3!$C$60</c:f>
              <c:strCache>
                <c:ptCount val="1"/>
                <c:pt idx="0">
                  <c:v>30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Sheet3!$C$61:$C$63</c:f>
              <c:numCache>
                <c:formatCode>General</c:formatCode>
                <c:ptCount val="3"/>
                <c:pt idx="0">
                  <c:v>0.489796</c:v>
                </c:pt>
                <c:pt idx="1">
                  <c:v>0.6</c:v>
                </c:pt>
                <c:pt idx="2">
                  <c:v>0.539325892</c:v>
                </c:pt>
              </c:numCache>
            </c:numRef>
          </c:val>
        </c:ser>
        <c:ser>
          <c:idx val="3"/>
          <c:order val="2"/>
          <c:tx>
            <c:strRef>
              <c:f>Sheet3!$E$60</c:f>
              <c:strCache>
                <c:ptCount val="1"/>
                <c:pt idx="0">
                  <c:v>10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Sheet3!$E$61:$E$63</c:f>
              <c:numCache>
                <c:formatCode>General</c:formatCode>
                <c:ptCount val="3"/>
                <c:pt idx="0">
                  <c:v>0.458333</c:v>
                </c:pt>
                <c:pt idx="1">
                  <c:v>0.407407</c:v>
                </c:pt>
                <c:pt idx="2">
                  <c:v>0.431372173</c:v>
                </c:pt>
              </c:numCache>
            </c:numRef>
          </c:val>
        </c:ser>
        <c:ser>
          <c:idx val="4"/>
          <c:order val="3"/>
          <c:tx>
            <c:strRef>
              <c:f>Sheet3!$F$60</c:f>
              <c:strCache>
                <c:ptCount val="1"/>
                <c:pt idx="0">
                  <c:v>5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Sheet3!$F$61:$F$63</c:f>
              <c:numCache>
                <c:formatCode>General</c:formatCode>
                <c:ptCount val="3"/>
                <c:pt idx="0">
                  <c:v>0.37931</c:v>
                </c:pt>
                <c:pt idx="1">
                  <c:v>0.392857</c:v>
                </c:pt>
                <c:pt idx="2">
                  <c:v>0.385964665</c:v>
                </c:pt>
              </c:numCache>
            </c:numRef>
          </c:val>
        </c:ser>
        <c:ser>
          <c:idx val="5"/>
          <c:order val="4"/>
          <c:tx>
            <c:strRef>
              <c:f>Sheet3!$G$60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val>
            <c:numRef>
              <c:f>Sheet3!$G$61:$G$63</c:f>
              <c:numCache>
                <c:formatCode>General</c:formatCode>
                <c:ptCount val="3"/>
                <c:pt idx="0">
                  <c:v>0.35</c:v>
                </c:pt>
                <c:pt idx="1">
                  <c:v>0.304348</c:v>
                </c:pt>
                <c:pt idx="2">
                  <c:v>0.325581495</c:v>
                </c:pt>
              </c:numCache>
            </c:numRef>
          </c:val>
        </c:ser>
        <c:ser>
          <c:idx val="6"/>
          <c:order val="5"/>
          <c:tx>
            <c:strRef>
              <c:f>Sheet3!$I$60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val>
            <c:numRef>
              <c:f>Sheet3!$I$61:$I$63</c:f>
              <c:numCache>
                <c:formatCode>General</c:formatCode>
                <c:ptCount val="3"/>
                <c:pt idx="0">
                  <c:v>0.333333</c:v>
                </c:pt>
                <c:pt idx="1">
                  <c:v>0.32</c:v>
                </c:pt>
                <c:pt idx="2">
                  <c:v>0.326530452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627496"/>
        <c:axId val="2095630664"/>
      </c:barChart>
      <c:catAx>
        <c:axId val="209562749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630664"/>
        <c:crosses val="autoZero"/>
        <c:auto val="1"/>
        <c:lblAlgn val="ctr"/>
        <c:lblOffset val="100"/>
        <c:noMultiLvlLbl val="0"/>
      </c:catAx>
      <c:valAx>
        <c:axId val="20956306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627496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Sheet3!$B$60</c:f>
              <c:strCache>
                <c:ptCount val="1"/>
                <c:pt idx="0">
                  <c:v>50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Sheet3!$B$61:$B$63</c:f>
              <c:numCache>
                <c:formatCode>General</c:formatCode>
                <c:ptCount val="3"/>
                <c:pt idx="0">
                  <c:v>0.517857</c:v>
                </c:pt>
                <c:pt idx="1">
                  <c:v>0.659091</c:v>
                </c:pt>
                <c:pt idx="2">
                  <c:v>0.579999946</c:v>
                </c:pt>
              </c:numCache>
            </c:numRef>
          </c:val>
        </c:ser>
        <c:ser>
          <c:idx val="1"/>
          <c:order val="1"/>
          <c:tx>
            <c:strRef>
              <c:f>Sheet3!$C$60</c:f>
              <c:strCache>
                <c:ptCount val="1"/>
                <c:pt idx="0">
                  <c:v>30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Sheet3!$C$61:$C$63</c:f>
              <c:numCache>
                <c:formatCode>General</c:formatCode>
                <c:ptCount val="3"/>
                <c:pt idx="0">
                  <c:v>0.489796</c:v>
                </c:pt>
                <c:pt idx="1">
                  <c:v>0.6</c:v>
                </c:pt>
                <c:pt idx="2">
                  <c:v>0.539325892</c:v>
                </c:pt>
              </c:numCache>
            </c:numRef>
          </c:val>
        </c:ser>
        <c:ser>
          <c:idx val="3"/>
          <c:order val="2"/>
          <c:tx>
            <c:strRef>
              <c:f>Sheet3!$E$60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rgbClr val="8107E1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Sheet3!$E$61:$E$63</c:f>
              <c:numCache>
                <c:formatCode>General</c:formatCode>
                <c:ptCount val="3"/>
                <c:pt idx="0">
                  <c:v>0.458333</c:v>
                </c:pt>
                <c:pt idx="1">
                  <c:v>0.407407</c:v>
                </c:pt>
                <c:pt idx="2">
                  <c:v>0.431372173</c:v>
                </c:pt>
              </c:numCache>
            </c:numRef>
          </c:val>
        </c:ser>
        <c:ser>
          <c:idx val="4"/>
          <c:order val="3"/>
          <c:tx>
            <c:strRef>
              <c:f>Sheet3!$F$60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Sheet3!$F$61:$F$63</c:f>
              <c:numCache>
                <c:formatCode>General</c:formatCode>
                <c:ptCount val="3"/>
                <c:pt idx="0">
                  <c:v>0.37931</c:v>
                </c:pt>
                <c:pt idx="1">
                  <c:v>0.392857</c:v>
                </c:pt>
                <c:pt idx="2">
                  <c:v>0.385964665</c:v>
                </c:pt>
              </c:numCache>
            </c:numRef>
          </c:val>
        </c:ser>
        <c:ser>
          <c:idx val="5"/>
          <c:order val="4"/>
          <c:tx>
            <c:strRef>
              <c:f>Sheet3!$G$60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val>
            <c:numRef>
              <c:f>Sheet3!$G$61:$G$63</c:f>
              <c:numCache>
                <c:formatCode>General</c:formatCode>
                <c:ptCount val="3"/>
                <c:pt idx="0">
                  <c:v>0.35</c:v>
                </c:pt>
                <c:pt idx="1">
                  <c:v>0.304348</c:v>
                </c:pt>
                <c:pt idx="2">
                  <c:v>0.325581495</c:v>
                </c:pt>
              </c:numCache>
            </c:numRef>
          </c:val>
        </c:ser>
        <c:ser>
          <c:idx val="6"/>
          <c:order val="5"/>
          <c:tx>
            <c:strRef>
              <c:f>Sheet3!$I$60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val>
            <c:numRef>
              <c:f>Sheet3!$I$61:$I$63</c:f>
              <c:numCache>
                <c:formatCode>General</c:formatCode>
                <c:ptCount val="3"/>
                <c:pt idx="0">
                  <c:v>0.333333</c:v>
                </c:pt>
                <c:pt idx="1">
                  <c:v>0.32</c:v>
                </c:pt>
                <c:pt idx="2">
                  <c:v>0.326530452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596488"/>
        <c:axId val="2095599432"/>
      </c:barChart>
      <c:catAx>
        <c:axId val="209559648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599432"/>
        <c:crosses val="autoZero"/>
        <c:auto val="1"/>
        <c:lblAlgn val="ctr"/>
        <c:lblOffset val="100"/>
        <c:noMultiLvlLbl val="0"/>
      </c:catAx>
      <c:valAx>
        <c:axId val="2095599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5596488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Sheet3!$B$60</c:f>
              <c:strCache>
                <c:ptCount val="1"/>
                <c:pt idx="0">
                  <c:v>50</c:v>
                </c:pt>
              </c:strCache>
            </c:strRef>
          </c:tx>
          <c:spPr>
            <a:solidFill>
              <a:srgbClr val="0000FF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Sheet3!$B$61:$B$63</c:f>
              <c:numCache>
                <c:formatCode>General</c:formatCode>
                <c:ptCount val="3"/>
                <c:pt idx="0">
                  <c:v>0.517857</c:v>
                </c:pt>
                <c:pt idx="1">
                  <c:v>0.659091</c:v>
                </c:pt>
                <c:pt idx="2">
                  <c:v>0.579999946</c:v>
                </c:pt>
              </c:numCache>
            </c:numRef>
          </c:val>
        </c:ser>
        <c:ser>
          <c:idx val="1"/>
          <c:order val="1"/>
          <c:tx>
            <c:strRef>
              <c:f>Sheet3!$C$60</c:f>
              <c:strCache>
                <c:ptCount val="1"/>
                <c:pt idx="0">
                  <c:v>30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Sheet3!$C$61:$C$63</c:f>
              <c:numCache>
                <c:formatCode>General</c:formatCode>
                <c:ptCount val="3"/>
                <c:pt idx="0">
                  <c:v>0.489796</c:v>
                </c:pt>
                <c:pt idx="1">
                  <c:v>0.6</c:v>
                </c:pt>
                <c:pt idx="2">
                  <c:v>0.539325892</c:v>
                </c:pt>
              </c:numCache>
            </c:numRef>
          </c:val>
        </c:ser>
        <c:ser>
          <c:idx val="3"/>
          <c:order val="2"/>
          <c:tx>
            <c:strRef>
              <c:f>Sheet3!$E$60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rgbClr val="8107E1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Sheet3!$E$61:$E$63</c:f>
              <c:numCache>
                <c:formatCode>General</c:formatCode>
                <c:ptCount val="3"/>
                <c:pt idx="0">
                  <c:v>0.458333</c:v>
                </c:pt>
                <c:pt idx="1">
                  <c:v>0.407407</c:v>
                </c:pt>
                <c:pt idx="2">
                  <c:v>0.431372173</c:v>
                </c:pt>
              </c:numCache>
            </c:numRef>
          </c:val>
        </c:ser>
        <c:ser>
          <c:idx val="4"/>
          <c:order val="3"/>
          <c:tx>
            <c:strRef>
              <c:f>Sheet3!$F$60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Sheet3!$A$2:$A$4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F-score</c:v>
                </c:pt>
              </c:strCache>
            </c:strRef>
          </c:cat>
          <c:val>
            <c:numRef>
              <c:f>Sheet3!$F$61:$F$63</c:f>
              <c:numCache>
                <c:formatCode>General</c:formatCode>
                <c:ptCount val="3"/>
                <c:pt idx="0">
                  <c:v>0.37931</c:v>
                </c:pt>
                <c:pt idx="1">
                  <c:v>0.392857</c:v>
                </c:pt>
                <c:pt idx="2">
                  <c:v>0.385964665</c:v>
                </c:pt>
              </c:numCache>
            </c:numRef>
          </c:val>
        </c:ser>
        <c:ser>
          <c:idx val="5"/>
          <c:order val="4"/>
          <c:tx>
            <c:strRef>
              <c:f>Sheet3!$G$60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C0FF74"/>
            </a:solidFill>
          </c:spPr>
          <c:invertIfNegative val="0"/>
          <c:val>
            <c:numRef>
              <c:f>Sheet3!$G$61:$G$63</c:f>
              <c:numCache>
                <c:formatCode>General</c:formatCode>
                <c:ptCount val="3"/>
                <c:pt idx="0">
                  <c:v>0.35</c:v>
                </c:pt>
                <c:pt idx="1">
                  <c:v>0.304348</c:v>
                </c:pt>
                <c:pt idx="2">
                  <c:v>0.325581495</c:v>
                </c:pt>
              </c:numCache>
            </c:numRef>
          </c:val>
        </c:ser>
        <c:ser>
          <c:idx val="6"/>
          <c:order val="5"/>
          <c:tx>
            <c:strRef>
              <c:f>Sheet3!$I$60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600"/>
            </a:solidFill>
          </c:spPr>
          <c:invertIfNegative val="0"/>
          <c:val>
            <c:numRef>
              <c:f>Sheet3!$I$61:$I$63</c:f>
              <c:numCache>
                <c:formatCode>General</c:formatCode>
                <c:ptCount val="3"/>
                <c:pt idx="0">
                  <c:v>0.333333</c:v>
                </c:pt>
                <c:pt idx="1">
                  <c:v>0.32</c:v>
                </c:pt>
                <c:pt idx="2">
                  <c:v>0.326530452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337416"/>
        <c:axId val="2093146856"/>
      </c:barChart>
      <c:catAx>
        <c:axId val="209433741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3146856"/>
        <c:crosses val="autoZero"/>
        <c:auto val="1"/>
        <c:lblAlgn val="ctr"/>
        <c:lblOffset val="100"/>
        <c:noMultiLvlLbl val="0"/>
      </c:catAx>
      <c:valAx>
        <c:axId val="2093146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2094337416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3CA6B-1D9F-8B47-97A8-FEAFB1EAC05F}" type="datetimeFigureOut">
              <a:rPr lang="en-US" smtClean="0"/>
              <a:t>4/15/13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BB7B8-91CF-E749-A265-AECB4CC98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98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263C4-3328-404D-A83C-FBBDC799FC71}" type="datetimeFigureOut">
              <a:rPr lang="en-US" smtClean="0"/>
              <a:t>4/15/13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82B05-5F9D-DD4B-8C5B-888CB17F3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691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Customer care service is a direct channel between service provider and customers</a:t>
            </a:r>
          </a:p>
          <a:p>
            <a:pPr marL="1714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Customer care calls can reveal problems observed by customers and details about the nature of events</a:t>
            </a:r>
          </a:p>
          <a:p>
            <a:pPr marL="1714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Understand impact of network events on customer perceived performance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US" dirty="0" smtClean="0"/>
              <a:t>A </a:t>
            </a:r>
            <a:r>
              <a:rPr lang="fr-FR" dirty="0" err="1" smtClean="0"/>
              <a:t>complement</a:t>
            </a:r>
            <a:r>
              <a:rPr lang="fr-FR" dirty="0" smtClean="0"/>
              <a:t> to</a:t>
            </a:r>
            <a:r>
              <a:rPr lang="en-US" dirty="0" smtClean="0"/>
              <a:t> network performance 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1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Service providers have strong motivation to understand customer care calls</a:t>
            </a:r>
          </a:p>
          <a:p>
            <a:pPr marL="171450" indent="-171450">
              <a:buFontTx/>
              <a:buChar char="-"/>
            </a:pPr>
            <a:r>
              <a:rPr lang="en-US" sz="3200" dirty="0" smtClean="0"/>
              <a:t>Operating call centers and</a:t>
            </a:r>
            <a:r>
              <a:rPr lang="en-US" sz="3200" baseline="0" dirty="0" smtClean="0"/>
              <a:t> handling calls cost $10 per call. If it’s important to identify problems </a:t>
            </a:r>
            <a:r>
              <a:rPr lang="en-US" sz="3200" baseline="0" dirty="0" err="1" smtClean="0"/>
              <a:t>asap</a:t>
            </a:r>
            <a:r>
              <a:rPr lang="en-US" sz="3200" baseline="0" dirty="0" smtClean="0"/>
              <a:t> and deflate the calls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Prioritize</a:t>
            </a:r>
            <a:r>
              <a:rPr lang="en-US" baseline="0" dirty="0" smtClean="0"/>
              <a:t> and handle anomalies by the impact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the way to deal with customer care calls directly impact customers’ experience and their impression of the company</a:t>
            </a:r>
            <a:endParaRPr lang="en-US" baseline="0" dirty="0" smtClean="0"/>
          </a:p>
          <a:p>
            <a:pPr marL="0" indent="0">
              <a:buFontTx/>
              <a:buNone/>
            </a:pPr>
            <a:endParaRPr lang="en-US" dirty="0" smtClean="0"/>
          </a:p>
          <a:p>
            <a:pPr marL="0" indent="0">
              <a:buFontTx/>
              <a:buNone/>
            </a:pPr>
            <a:r>
              <a:rPr lang="en-US" dirty="0" smtClean="0"/>
              <a:t>So the goal</a:t>
            </a:r>
            <a:r>
              <a:rPr lang="en-US" baseline="0" dirty="0" smtClean="0"/>
              <a:t> of this paper is to identify events using customer care calls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1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uses data derived from calls to customer support centers of a major mobile service provider.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call reach a call agent, the call agent label calls with predefined categories.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call can be labeled with multiple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ccategories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depends on the issue, customer need, call type, and problem resolution.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59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88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Mention it’s binary and company can get more information from external sources like twitter</a:t>
            </a:r>
            <a:r>
              <a:rPr lang="en-US" smtClean="0"/>
              <a:t>/detailed</a:t>
            </a:r>
            <a:r>
              <a:rPr lang="en-US" baseline="0" smtClean="0"/>
              <a:t>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6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 respond to an event in different ways. For example, for major events, like service outage,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customers may call immediately. But for small events, customers may call after they become available or may not call at all.  It depends on many factors including the event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impact, customer availability, and time-of-day.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Many important events cannot be detected by looking at calls in one category.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 smtClean="0"/>
              <a:t>Single categories is vulnerable to outliers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Scalability.</a:t>
            </a:r>
            <a:r>
              <a:rPr lang="en-US" baseline="0" dirty="0" smtClean="0"/>
              <a:t> </a:t>
            </a:r>
            <a:r>
              <a:rPr lang="en-US" dirty="0" smtClean="0"/>
              <a:t>There are thousands</a:t>
            </a:r>
            <a:r>
              <a:rPr lang="en-US" baseline="0" dirty="0" smtClean="0"/>
              <a:t> of possible categories by which calls may be labeled.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from such a large dimension of features is challenging. 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Have </a:t>
            </a:r>
            <a:r>
              <a:rPr lang="en-US" dirty="0" err="1" smtClean="0"/>
              <a:t>ts</a:t>
            </a:r>
            <a:r>
              <a:rPr lang="en-US" dirty="0" smtClean="0"/>
              <a:t> of categories individually,</a:t>
            </a:r>
            <a:r>
              <a:rPr lang="en-US" baseline="0" dirty="0" smtClean="0"/>
              <a:t> and show they can not reveal the anomaly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6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 respond to an event in different ways. For example, for major events, like service outage,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customers may call immediately. But for small events, customers may call after they become available or may not call at all.  It depends on many factors including the event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impact, customer availability, and time-of-day.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Many important events cannot be detected by looking at calls in one category.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 smtClean="0"/>
              <a:t>Single categories is vulnerable to outliers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Scalability.</a:t>
            </a:r>
            <a:r>
              <a:rPr lang="en-US" baseline="0" dirty="0" smtClean="0"/>
              <a:t> </a:t>
            </a:r>
            <a:r>
              <a:rPr lang="en-US" dirty="0" smtClean="0"/>
              <a:t>There are thousands</a:t>
            </a:r>
            <a:r>
              <a:rPr lang="en-US" baseline="0" dirty="0" smtClean="0"/>
              <a:t> of possible categories by which calls may be labeled.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from such a large dimension of features is challenging. 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Have </a:t>
            </a:r>
            <a:r>
              <a:rPr lang="en-US" dirty="0" err="1" smtClean="0"/>
              <a:t>ts</a:t>
            </a:r>
            <a:r>
              <a:rPr lang="en-US" dirty="0" smtClean="0"/>
              <a:t> of categories individually,</a:t>
            </a:r>
            <a:r>
              <a:rPr lang="en-US" baseline="0" dirty="0" smtClean="0"/>
              <a:t> and show they can not reveal the anomaly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6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 respond to an event in different ways. For example, for major events, like service outage,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customers may call immediately. But for small events, customers may call after they become available or may not call at all.  It depends on many factors including the event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impact, customer availability, and time-of-day.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Many important events cannot be detected by looking at calls in one category.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 smtClean="0"/>
              <a:t>Single categories is vulnerable to outliers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Scalability.</a:t>
            </a:r>
            <a:r>
              <a:rPr lang="en-US" baseline="0" dirty="0" smtClean="0"/>
              <a:t> </a:t>
            </a:r>
            <a:r>
              <a:rPr lang="en-US" dirty="0" smtClean="0"/>
              <a:t>There are thousands</a:t>
            </a:r>
            <a:r>
              <a:rPr lang="en-US" baseline="0" dirty="0" smtClean="0"/>
              <a:t> of possible categories by which calls may be labeled.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from such a large dimension of features is challenging. 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Have </a:t>
            </a:r>
            <a:r>
              <a:rPr lang="en-US" dirty="0" err="1" smtClean="0"/>
              <a:t>ts</a:t>
            </a:r>
            <a:r>
              <a:rPr lang="en-US" dirty="0" smtClean="0"/>
              <a:t> of categories individually,</a:t>
            </a:r>
            <a:r>
              <a:rPr lang="en-US" baseline="0" dirty="0" smtClean="0"/>
              <a:t> and show they can not reveal the anomaly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6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care calls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labeled and input into system manually by call agents.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call centers can change the usage of categories. Therefore,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 categorization depends on the information supplied by the customer, which may lead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inconsistent classification across agents and across call centers</a:t>
            </a:r>
            <a:endParaRPr lang="en-US" dirty="0" smtClean="0"/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categories and events evolve, the relationship between the inputs and the anomalies may also change. Therefore x can change over time.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number of categories can be much larger than the number of constraints derived from the training traces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82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L1-norm is also</a:t>
            </a:r>
            <a:r>
              <a:rPr lang="en-US" baseline="0" dirty="0" smtClean="0"/>
              <a:t> known as least absolute value </a:t>
            </a:r>
            <a:r>
              <a:rPr lang="en-US" dirty="0" smtClean="0"/>
              <a:t>method, which select</a:t>
            </a:r>
            <a:r>
              <a:rPr lang="en-US" baseline="0" dirty="0" smtClean="0"/>
              <a:t> x to minimize the difference between Ax and b and x.</a:t>
            </a:r>
          </a:p>
          <a:p>
            <a:r>
              <a:rPr lang="en-US" baseline="0" dirty="0" smtClean="0"/>
              <a:t>The method penalizes all factors in x equally and makes x sparse.</a:t>
            </a:r>
          </a:p>
          <a:p>
            <a:r>
              <a:rPr lang="en-US" baseline="0" dirty="0" smtClean="0"/>
              <a:t>We select categories with corresponding value in x is not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51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a simple temporal transformation matrix to minimize the change in x between two consecutive days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 denotes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Toeplitz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matrix with central diagonal given by 1, the first upper diagonal given by -1.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45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capture the low-rank nature of weight matrix, we introduce a penalty term function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is a N × r unknown factor matrix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V is a d × r unknown factor matrix,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Minimizing the penalty term ensures X has a good rank-r approximation: M ≈ U ∗ V T . </a:t>
            </a: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12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Animation</a:t>
            </a:r>
            <a:r>
              <a:rPr lang="en-US" baseline="0" dirty="0" smtClean="0"/>
              <a:t> for this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41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higher</a:t>
            </a:r>
            <a:r>
              <a:rPr lang="en-US" baseline="0" dirty="0" smtClean="0"/>
              <a:t> the better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21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Recall: the fraction of real anomalies are claimed </a:t>
            </a:r>
            <a:endParaRPr lang="en-US" baseline="0" dirty="0" smtClean="0"/>
          </a:p>
          <a:p>
            <a:r>
              <a:rPr lang="en-US" baseline="0" dirty="0" smtClean="0"/>
              <a:t>Precision: the fraction of claimed anomalies that are real anomalies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PCA find the principle components that has the largest possible variance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Recall: the fraction of real anomalies are claimed </a:t>
            </a:r>
            <a:endParaRPr lang="en-US" baseline="0" dirty="0" smtClean="0"/>
          </a:p>
          <a:p>
            <a:r>
              <a:rPr lang="en-US" baseline="0" dirty="0" smtClean="0"/>
              <a:t>Precision: the fraction of claimed anomalies that are real anomalies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PCA find the principle components that has the largest possible variance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Recall: the fraction of real anomalies are claimed </a:t>
            </a:r>
            <a:endParaRPr lang="en-US" baseline="0" dirty="0" smtClean="0"/>
          </a:p>
          <a:p>
            <a:r>
              <a:rPr lang="en-US" baseline="0" dirty="0" smtClean="0"/>
              <a:t>Precision: the fraction of claimed anomalies that are real anomalies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PCA find the principle components that has the largest possible variance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Recall: the fraction of real anomalies are claimed </a:t>
            </a:r>
            <a:endParaRPr lang="en-US" baseline="0" dirty="0" smtClean="0"/>
          </a:p>
          <a:p>
            <a:r>
              <a:rPr lang="en-US" baseline="0" dirty="0" smtClean="0"/>
              <a:t>Precision: the fraction of claimed anomalies that are real anomalies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PCA find the principle components that has the largest possible variance</a:t>
            </a:r>
          </a:p>
          <a:p>
            <a:endParaRPr lang="en-US" dirty="0" smtClean="0"/>
          </a:p>
          <a:p>
            <a:endParaRPr lang="en-US" baseline="0" dirty="0" smtClean="0"/>
          </a:p>
          <a:p>
            <a:r>
              <a:rPr lang="en-US" dirty="0" smtClean="0"/>
              <a:t>L2-norm, also known as the least squares method.</a:t>
            </a:r>
            <a:r>
              <a:rPr lang="en-US" baseline="0" dirty="0" smtClean="0"/>
              <a:t> </a:t>
            </a:r>
            <a:r>
              <a:rPr lang="en-US" dirty="0" err="1" smtClean="0"/>
              <a:t>Weekness</a:t>
            </a:r>
            <a:r>
              <a:rPr lang="en-US" baseline="0" dirty="0" smtClean="0"/>
              <a:t> is</a:t>
            </a:r>
            <a:r>
              <a:rPr lang="en-US" dirty="0" smtClean="0"/>
              <a:t> the effect of gross measurements error on the solution</a:t>
            </a:r>
            <a:r>
              <a:rPr lang="en-US" baseline="0" dirty="0" smtClean="0"/>
              <a:t> </a:t>
            </a:r>
            <a:r>
              <a:rPr lang="en-US" dirty="0" smtClean="0"/>
              <a:t>and the disturbance and absorbance of gross error on the solution</a:t>
            </a:r>
          </a:p>
          <a:p>
            <a:r>
              <a:rPr lang="en-US" dirty="0" smtClean="0"/>
              <a:t>L1–norm, also known as the least</a:t>
            </a:r>
            <a:r>
              <a:rPr lang="en-US" baseline="0" dirty="0" smtClean="0"/>
              <a:t> </a:t>
            </a:r>
            <a:r>
              <a:rPr lang="en-US" dirty="0" smtClean="0"/>
              <a:t>absolute values method, was affected by almost none or very little from gross error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Global Network Operations</a:t>
            </a:r>
            <a:r>
              <a:rPr lang="en-US" baseline="0" dirty="0" smtClean="0"/>
              <a:t> Center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71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82B05-5F9D-DD4B-8C5B-888CB17F329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1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 sz="280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76200" y="2209800"/>
            <a:ext cx="8763000" cy="1828800"/>
          </a:xfrm>
        </p:spPr>
        <p:txBody>
          <a:bodyPr anchor="b"/>
          <a:lstStyle>
            <a:lvl1pPr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8" name="Shap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 dirty="0">
              <a:latin typeface="Tw Cen MT"/>
            </a:endParaRPr>
          </a:p>
        </p:txBody>
      </p:sp>
      <p:sp>
        <p:nvSpPr>
          <p:cNvPr id="17" name="Shape 16"/>
          <p:cNvSpPr>
            <a:spLocks noGrp="1"/>
          </p:cNvSpPr>
          <p:nvPr>
            <p:ph type="ftr" sz="quarter" idx="11"/>
          </p:nvPr>
        </p:nvSpPr>
        <p:spPr>
          <a:xfrm>
            <a:off x="2359152" y="6052824"/>
            <a:ext cx="6784848" cy="701675"/>
          </a:xfrm>
        </p:spPr>
        <p:txBody>
          <a:bodyPr/>
          <a:lstStyle>
            <a:lvl1pPr algn="r">
              <a:defRPr sz="3200">
                <a:solidFill>
                  <a:srgbClr val="000090"/>
                </a:solidFill>
              </a:defRPr>
            </a:lvl1pPr>
          </a:lstStyle>
          <a:p>
            <a:r>
              <a:rPr lang="en-US" dirty="0" smtClean="0">
                <a:latin typeface="Tw Cen MT"/>
              </a:rPr>
              <a:t>INFOCOM 2013</a:t>
            </a:r>
            <a:endParaRPr lang="en-US" dirty="0">
              <a:latin typeface="Tw Cen MT"/>
            </a:endParaRPr>
          </a:p>
        </p:txBody>
      </p:sp>
      <p:sp>
        <p:nvSpPr>
          <p:cNvPr id="29" name="Shap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>
                <a:solidFill>
                  <a:srgbClr val="EBDDC3"/>
                </a:solidFill>
                <a:latin typeface="Tw Cen MT"/>
              </a:rPr>
              <a:pPr/>
              <a:t>‹#›</a:t>
            </a:fld>
            <a:endParaRPr lang="en-US" dirty="0">
              <a:solidFill>
                <a:srgbClr val="EBDDC3"/>
              </a:solidFill>
              <a:latin typeface="Tw Cen M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hape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7089775" cy="365125"/>
          </a:xfrm>
          <a:prstGeom prst="rect">
            <a:avLst/>
          </a:prstGeom>
        </p:spPr>
        <p:txBody>
          <a:bodyPr vert="horz" anchor="ctr"/>
          <a:lstStyle>
            <a:lvl1pPr algn="l">
              <a:defRPr sz="2000">
                <a:solidFill>
                  <a:schemeClr val="tx2"/>
                </a:solidFill>
              </a:defRPr>
            </a:lvl1pPr>
          </a:lstStyle>
          <a:p>
            <a:pPr defTabSz="914400"/>
            <a:r>
              <a:rPr lang="en-US" dirty="0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232648" y="6384731"/>
            <a:ext cx="533400" cy="228600"/>
          </a:xfrm>
          <a:prstGeom prst="rect">
            <a:avLst/>
          </a:prstGeom>
          <a:solidFill>
            <a:schemeClr val="bg1"/>
          </a:solidFill>
          <a:ln w="50800" cap="rnd" cmpd="dbl" algn="ctr">
            <a:solidFill>
              <a:schemeClr val="bg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 b="1">
              <a:solidFill>
                <a:schemeClr val="tx1">
                  <a:lumMod val="95000"/>
                  <a:lumOff val="5000"/>
                </a:schemeClr>
              </a:solidFill>
              <a:latin typeface="Tw Cen MT"/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32648" y="6384730"/>
            <a:ext cx="533400" cy="228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DCA8BAC4-C7C6-7E41-A382-BF3EA00366E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Shape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0" name="Shape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  <p:sp>
        <p:nvSpPr>
          <p:cNvPr id="12" name="Shap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Shape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hape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2" name="Shape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  <p:sp>
        <p:nvSpPr>
          <p:cNvPr id="14" name="Shap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6" name="Shap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5" name="Shap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>
                <a:solidFill>
                  <a:srgbClr val="775F55"/>
                </a:solidFill>
                <a:latin typeface="Tw Cen MT"/>
              </a:rPr>
              <a:pPr/>
              <a:t>‹#›</a:t>
            </a:fld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1AD93096-5B34-4342-9326-69289CEAE4C2}" type="slidenum">
              <a:rPr lang="en-US" smtClean="0"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775F55"/>
                </a:solidFill>
                <a:latin typeface="Tw Cen MT"/>
              </a:rPr>
              <a:pPr/>
              <a:t>‹#›</a:t>
            </a:fld>
            <a:endParaRPr lang="en-US">
              <a:latin typeface="Tw Cen M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  <a:endParaRPr lang="en-US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775F55"/>
                </a:solidFill>
                <a:latin typeface="Tw Cen MT"/>
              </a:rPr>
              <a:pPr/>
              <a:t>‹#›</a:t>
            </a:fld>
            <a:endParaRPr lang="en-US" dirty="0">
              <a:latin typeface="Tw Cen M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INFOCOM 2013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679E3C8E-964B-8144-BB67-153808DAA4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7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7089775" cy="365125"/>
          </a:xfrm>
          <a:prstGeom prst="rect">
            <a:avLst/>
          </a:prstGeom>
        </p:spPr>
        <p:txBody>
          <a:bodyPr vert="horz" anchor="ctr"/>
          <a:lstStyle>
            <a:lvl1pPr algn="l">
              <a:defRPr sz="2000">
                <a:solidFill>
                  <a:schemeClr val="tx2"/>
                </a:solidFill>
              </a:defRPr>
            </a:lvl1pPr>
          </a:lstStyle>
          <a:p>
            <a:pPr defTabSz="914400"/>
            <a:r>
              <a:rPr lang="en-US" dirty="0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0" y="1280159"/>
            <a:ext cx="533400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8BAC4-C7C6-7E41-A382-BF3EA00366E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9" r:id="rId12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rtl="0" latinLnBrk="0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/>
        <a:buChar char=""/>
        <a:defRPr sz="3200" kern="1200">
          <a:solidFill>
            <a:srgbClr val="0000FF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/>
        <a:buChar char="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/>
        <a:buChar char="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/>
        <a:buChar char="§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/>
        <a:buChar char="§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/>
        <a:buChar char="§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/>
        <a:buChar char="§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gif"/><Relationship Id="rId5" Type="http://schemas.openxmlformats.org/officeDocument/2006/relationships/image" Target="../media/image5.emf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chart" Target="../charts/chart5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png"/><Relationship Id="rId5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3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5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6.emf"/><Relationship Id="rId5" Type="http://schemas.openxmlformats.org/officeDocument/2006/relationships/image" Target="../media/image28.emf"/><Relationship Id="rId6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6.emf"/><Relationship Id="rId5" Type="http://schemas.openxmlformats.org/officeDocument/2006/relationships/image" Target="../media/image28.emf"/><Relationship Id="rId6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6.emf"/><Relationship Id="rId5" Type="http://schemas.openxmlformats.org/officeDocument/2006/relationships/image" Target="../media/image28.emf"/><Relationship Id="rId6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6.emf"/><Relationship Id="rId5" Type="http://schemas.openxmlformats.org/officeDocument/2006/relationships/image" Target="../media/image28.emf"/><Relationship Id="rId6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8.emf"/><Relationship Id="rId5" Type="http://schemas.openxmlformats.org/officeDocument/2006/relationships/chart" Target="../charts/chart16.xm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251" y="2209800"/>
            <a:ext cx="8207374" cy="18288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Event Detection using Customer Care Calls</a:t>
            </a:r>
            <a:endParaRPr lang="en-US" sz="4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 sz="2400" dirty="0" smtClean="0">
                <a:latin typeface="Tw Cen MT"/>
              </a:rPr>
              <a:t>04/17/2013</a:t>
            </a:r>
            <a:endParaRPr lang="en-US" sz="2400" dirty="0">
              <a:latin typeface="Tw Cen M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latin typeface="Tw Cen MT"/>
              </a:rPr>
              <a:t>IEEE INFOCOM 2013</a:t>
            </a:r>
            <a:endParaRPr lang="en-US" b="1" dirty="0">
              <a:latin typeface="Tw Cen M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90500" y="4141788"/>
            <a:ext cx="8953500" cy="108743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Yi-Chao Chen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Gene Moo Lee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Nick Duffield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Lili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Qiu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Jia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Wang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University of Texas at Austin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AT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&amp;T Labs – Research</a:t>
            </a:r>
            <a:r>
              <a:rPr lang="en-US" sz="2400" baseline="30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89389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Customer care call</a:t>
            </a:r>
            <a:r>
              <a:rPr lang="en-US" dirty="0" smtClean="0"/>
              <a:t> is a direct channel between </a:t>
            </a:r>
            <a:r>
              <a:rPr lang="en-US" b="1" dirty="0" smtClean="0"/>
              <a:t>service provider </a:t>
            </a:r>
            <a:r>
              <a:rPr lang="en-US" dirty="0" smtClean="0"/>
              <a:t>and </a:t>
            </a:r>
            <a:r>
              <a:rPr lang="en-US" b="1" dirty="0" smtClean="0"/>
              <a:t>customers</a:t>
            </a:r>
          </a:p>
          <a:p>
            <a:pPr lvl="1"/>
            <a:r>
              <a:rPr lang="en-US" dirty="0" smtClean="0"/>
              <a:t>Reveal </a:t>
            </a:r>
            <a:r>
              <a:rPr lang="en-US" b="1" dirty="0" smtClean="0"/>
              <a:t>problems</a:t>
            </a:r>
            <a:r>
              <a:rPr lang="en-US" dirty="0" smtClean="0"/>
              <a:t> observed by customers</a:t>
            </a:r>
          </a:p>
          <a:p>
            <a:pPr lvl="1"/>
            <a:r>
              <a:rPr lang="en-US" dirty="0" smtClean="0"/>
              <a:t>Understand </a:t>
            </a:r>
            <a:r>
              <a:rPr lang="en-US" b="1" dirty="0" smtClean="0"/>
              <a:t>impact </a:t>
            </a:r>
            <a:r>
              <a:rPr lang="en-US" dirty="0" smtClean="0"/>
              <a:t>of network events on customer perceived performance</a:t>
            </a:r>
          </a:p>
          <a:p>
            <a:pPr lvl="2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Regions,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of users, services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…</a:t>
            </a:r>
            <a:endParaRPr lang="en-US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" name="Picture 9" descr="call_agent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07001" y="4733731"/>
            <a:ext cx="1603374" cy="2133600"/>
          </a:xfrm>
          <a:prstGeom prst="rect">
            <a:avLst/>
          </a:prstGeom>
        </p:spPr>
      </p:pic>
      <p:pic>
        <p:nvPicPr>
          <p:cNvPr id="9" name="Picture 8" descr="customer2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07541"/>
            <a:ext cx="2428875" cy="2363816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6810375" y="3846318"/>
            <a:ext cx="2333625" cy="1884557"/>
            <a:chOff x="6810375" y="3846318"/>
            <a:chExt cx="2333625" cy="1884557"/>
          </a:xfrm>
        </p:grpSpPr>
        <p:sp>
          <p:nvSpPr>
            <p:cNvPr id="15" name="Cloud Callout 14"/>
            <p:cNvSpPr/>
            <p:nvPr/>
          </p:nvSpPr>
          <p:spPr>
            <a:xfrm>
              <a:off x="6810375" y="4016375"/>
              <a:ext cx="2333625" cy="1714500"/>
            </a:xfrm>
            <a:prstGeom prst="cloudCallout">
              <a:avLst>
                <a:gd name="adj1" fmla="val -50085"/>
                <a:gd name="adj2" fmla="val 46759"/>
              </a:avLst>
            </a:prstGeom>
            <a:gradFill flip="none" rotWithShape="1">
              <a:gsLst>
                <a:gs pos="100000">
                  <a:srgbClr val="E9FFEA"/>
                </a:gs>
                <a:gs pos="0">
                  <a:srgbClr val="CCFFCC"/>
                </a:gs>
                <a:gs pos="35000">
                  <a:srgbClr val="DBFFD6"/>
                </a:gs>
              </a:gsLst>
              <a:lin ang="16200000" scaled="0"/>
              <a:tileRect/>
            </a:gradFill>
            <a:ln>
              <a:solidFill>
                <a:srgbClr val="7FAB43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10375" y="3846318"/>
              <a:ext cx="2262725" cy="1774825"/>
            </a:xfrm>
            <a:prstGeom prst="rect">
              <a:avLst/>
            </a:prstGeom>
          </p:spPr>
        </p:pic>
        <p:sp>
          <p:nvSpPr>
            <p:cNvPr id="16" name="Multiply 15"/>
            <p:cNvSpPr/>
            <p:nvPr/>
          </p:nvSpPr>
          <p:spPr>
            <a:xfrm>
              <a:off x="7707312" y="4987896"/>
              <a:ext cx="333375" cy="357188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7FAB43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439470" y="5038549"/>
            <a:ext cx="1114762" cy="992282"/>
            <a:chOff x="2025974" y="4494184"/>
            <a:chExt cx="1114762" cy="992282"/>
          </a:xfrm>
        </p:grpSpPr>
        <p:grpSp>
          <p:nvGrpSpPr>
            <p:cNvPr id="20" name="Group 19"/>
            <p:cNvGrpSpPr/>
            <p:nvPr/>
          </p:nvGrpSpPr>
          <p:grpSpPr>
            <a:xfrm>
              <a:off x="2025974" y="4494184"/>
              <a:ext cx="1066800" cy="850900"/>
              <a:chOff x="533400" y="5397306"/>
              <a:chExt cx="1066800" cy="850900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400" y="5397306"/>
                <a:ext cx="825500" cy="850900"/>
              </a:xfrm>
              <a:prstGeom prst="rect">
                <a:avLst/>
              </a:prstGeom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1336675" y="5675212"/>
                <a:ext cx="263525" cy="3175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800" dirty="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" name="Multiply 13"/>
            <p:cNvSpPr/>
            <p:nvPr/>
          </p:nvSpPr>
          <p:spPr>
            <a:xfrm>
              <a:off x="2473986" y="4772090"/>
              <a:ext cx="666750" cy="714376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7FAB43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5915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Service providers </a:t>
            </a:r>
            <a:r>
              <a:rPr lang="en-US" dirty="0" smtClean="0"/>
              <a:t>have strong motivation to understand customer care calls</a:t>
            </a:r>
          </a:p>
          <a:p>
            <a:pPr lvl="1"/>
            <a:r>
              <a:rPr lang="en-US" b="1" dirty="0" smtClean="0"/>
              <a:t>Reduce cost</a:t>
            </a:r>
            <a:r>
              <a:rPr lang="en-US" dirty="0" smtClean="0"/>
              <a:t>: ~$10 per call</a:t>
            </a:r>
          </a:p>
          <a:p>
            <a:pPr lvl="1"/>
            <a:r>
              <a:rPr lang="en-US" b="1" dirty="0" smtClean="0"/>
              <a:t>Prioritize</a:t>
            </a:r>
            <a:r>
              <a:rPr lang="en-US" b="1" baseline="0" dirty="0" smtClean="0"/>
              <a:t> </a:t>
            </a:r>
            <a:r>
              <a:rPr lang="en-US" b="1" dirty="0" smtClean="0"/>
              <a:t>and handle anomalies </a:t>
            </a:r>
            <a:r>
              <a:rPr lang="en-US" baseline="0" dirty="0" smtClean="0"/>
              <a:t>by the impact</a:t>
            </a:r>
            <a:endParaRPr lang="en-US" dirty="0" smtClean="0"/>
          </a:p>
          <a:p>
            <a:pPr lvl="1"/>
            <a:r>
              <a:rPr lang="en-US" dirty="0" smtClean="0"/>
              <a:t>Improve </a:t>
            </a:r>
            <a:r>
              <a:rPr lang="en-US" b="1" dirty="0" smtClean="0"/>
              <a:t>customers’ impression </a:t>
            </a:r>
            <a:r>
              <a:rPr lang="en-US" dirty="0" smtClean="0"/>
              <a:t>to the service provider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4896805" y="4576515"/>
            <a:ext cx="2961319" cy="2598985"/>
            <a:chOff x="4896805" y="4259015"/>
            <a:chExt cx="2961319" cy="2598985"/>
          </a:xfrm>
        </p:grpSpPr>
        <p:pic>
          <p:nvPicPr>
            <p:cNvPr id="12" name="Picture 11" descr="call_agent4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042218" y="4481266"/>
              <a:ext cx="2815906" cy="2376734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0464" y="4259015"/>
              <a:ext cx="623659" cy="72573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123" y="4259015"/>
              <a:ext cx="623659" cy="72573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6805" y="4259015"/>
              <a:ext cx="623659" cy="725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2199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Goal</a:t>
            </a:r>
            <a:endParaRPr lang="en-US" sz="2800" b="1" dirty="0"/>
          </a:p>
          <a:p>
            <a:pPr lvl="1"/>
            <a:r>
              <a:rPr lang="en-US" dirty="0"/>
              <a:t>Automatically detect </a:t>
            </a:r>
            <a:r>
              <a:rPr lang="en-US" b="1" dirty="0"/>
              <a:t>anomalies</a:t>
            </a:r>
            <a:r>
              <a:rPr lang="en-US" dirty="0"/>
              <a:t> using </a:t>
            </a:r>
            <a:r>
              <a:rPr lang="en-US" b="1" dirty="0"/>
              <a:t>customer care calls. </a:t>
            </a:r>
          </a:p>
          <a:p>
            <a:r>
              <a:rPr lang="en-US" b="1" dirty="0" smtClean="0"/>
              <a:t>Input</a:t>
            </a:r>
          </a:p>
          <a:p>
            <a:pPr lvl="1"/>
            <a:r>
              <a:rPr lang="en-US" b="1" dirty="0"/>
              <a:t>Customer care </a:t>
            </a:r>
            <a:r>
              <a:rPr lang="en-US" b="1" dirty="0" smtClean="0"/>
              <a:t>calls</a:t>
            </a:r>
          </a:p>
          <a:p>
            <a:pPr lvl="1"/>
            <a:r>
              <a:rPr lang="en-US" dirty="0"/>
              <a:t>Call agents label calls using </a:t>
            </a:r>
            <a:r>
              <a:rPr lang="en-US" b="1" dirty="0"/>
              <a:t>predefined </a:t>
            </a:r>
            <a:r>
              <a:rPr lang="en-US" b="1" dirty="0" smtClean="0"/>
              <a:t>categories</a:t>
            </a:r>
          </a:p>
          <a:p>
            <a:pPr lvl="2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~10,000 </a:t>
            </a:r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categroies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dirty="0"/>
              <a:t>A call is labeled with </a:t>
            </a:r>
            <a:r>
              <a:rPr lang="en-US" b="1" dirty="0"/>
              <a:t>multiple categories</a:t>
            </a:r>
          </a:p>
          <a:p>
            <a:pPr lvl="2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Issue, customer need, call type, problem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resolution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790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Formulation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Output</a:t>
            </a:r>
            <a:endParaRPr lang="en-US" sz="2800" b="1" dirty="0" smtClean="0"/>
          </a:p>
          <a:p>
            <a:pPr lvl="1"/>
            <a:r>
              <a:rPr lang="en-US" b="1" dirty="0" smtClean="0"/>
              <a:t>Anomalies</a:t>
            </a:r>
          </a:p>
          <a:p>
            <a:pPr lvl="1"/>
            <a:r>
              <a:rPr lang="en-US" b="1" dirty="0" smtClean="0"/>
              <a:t>Performance problems </a:t>
            </a:r>
            <a:r>
              <a:rPr lang="en-US" dirty="0" smtClean="0"/>
              <a:t>observed by </a:t>
            </a:r>
            <a:r>
              <a:rPr lang="en-US" b="1" dirty="0" smtClean="0"/>
              <a:t>customers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 </a:t>
            </a:r>
            <a:r>
              <a:rPr lang="en-US" b="1" i="1" dirty="0"/>
              <a:t>Service outage</a:t>
            </a:r>
            <a:r>
              <a:rPr lang="en-US" dirty="0"/>
              <a:t> due to DOS attack, </a:t>
            </a:r>
            <a:r>
              <a:rPr lang="en-US" b="1" i="1" dirty="0" smtClean="0"/>
              <a:t>power </a:t>
            </a:r>
            <a:r>
              <a:rPr lang="en-US" b="1" i="1" dirty="0"/>
              <a:t>outage</a:t>
            </a:r>
            <a:r>
              <a:rPr lang="en-US" dirty="0"/>
              <a:t>, </a:t>
            </a:r>
            <a:r>
              <a:rPr lang="en-US" b="1" i="1" dirty="0" smtClean="0"/>
              <a:t>low </a:t>
            </a:r>
            <a:r>
              <a:rPr lang="en-US" b="1" i="1" dirty="0"/>
              <a:t>bandwidth</a:t>
            </a:r>
            <a:r>
              <a:rPr lang="en-US" dirty="0"/>
              <a:t> due to maintenance</a:t>
            </a:r>
            <a:endParaRPr lang="en-US" sz="2400" dirty="0" smtClean="0"/>
          </a:p>
          <a:p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8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Categories of Customer </a:t>
            </a:r>
            <a:br>
              <a:rPr lang="en-US" dirty="0" smtClean="0"/>
            </a:br>
            <a:r>
              <a:rPr lang="en-US" dirty="0" smtClean="0"/>
              <a:t>Care Calls</a:t>
            </a:r>
            <a:endParaRPr lang="en-US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365233"/>
              </p:ext>
            </p:extLst>
          </p:nvPr>
        </p:nvGraphicFramePr>
        <p:xfrm>
          <a:off x="0" y="1514650"/>
          <a:ext cx="9144000" cy="53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-61204" y="1514650"/>
            <a:ext cx="5997821" cy="5343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58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Input: Customer Care Calls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75606" y="1890360"/>
            <a:ext cx="537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baseline="-25000" dirty="0" smtClean="0">
                <a:latin typeface="Arial"/>
                <a:cs typeface="Arial"/>
              </a:rPr>
              <a:t>1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2045" y="1890360"/>
            <a:ext cx="537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baseline="-25000" dirty="0" smtClean="0">
                <a:latin typeface="Arial"/>
                <a:cs typeface="Arial"/>
              </a:rPr>
              <a:t>2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7894" y="1890360"/>
            <a:ext cx="537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baseline="-25000" dirty="0" smtClean="0">
                <a:latin typeface="Arial"/>
                <a:cs typeface="Arial"/>
              </a:rPr>
              <a:t>3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25026" y="1890360"/>
            <a:ext cx="470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latin typeface="Arial"/>
                <a:cs typeface="Arial"/>
              </a:rPr>
              <a:t>T</a:t>
            </a:r>
            <a:r>
              <a:rPr lang="en-US" sz="2800" baseline="-25000" dirty="0" err="1" smtClean="0">
                <a:latin typeface="Arial"/>
                <a:cs typeface="Arial"/>
              </a:rPr>
              <a:t>t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0022" y="189036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…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08250" y="5352530"/>
            <a:ext cx="6434586" cy="739215"/>
          </a:xfrm>
          <a:prstGeom prst="roundRect">
            <a:avLst/>
          </a:prstGeom>
          <a:gradFill flip="none" rotWithShape="1">
            <a:gsLst>
              <a:gs pos="100000">
                <a:srgbClr val="E9FFEA"/>
              </a:gs>
              <a:gs pos="0">
                <a:srgbClr val="CCFFCC"/>
              </a:gs>
              <a:gs pos="35000">
                <a:srgbClr val="DBFFD6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# of calls</a:t>
            </a:r>
            <a:r>
              <a:rPr lang="en-US" sz="3200" dirty="0" smtClean="0">
                <a:solidFill>
                  <a:srgbClr val="000000"/>
                </a:solidFill>
              </a:rPr>
              <a:t> of </a:t>
            </a:r>
            <a:r>
              <a:rPr lang="en-US" sz="3200" b="1" dirty="0" smtClean="0">
                <a:solidFill>
                  <a:srgbClr val="0000FF"/>
                </a:solidFill>
              </a:rPr>
              <a:t>category n</a:t>
            </a:r>
            <a:r>
              <a:rPr lang="en-US" sz="3200" dirty="0" smtClean="0">
                <a:solidFill>
                  <a:srgbClr val="000000"/>
                </a:solidFill>
              </a:rPr>
              <a:t> in </a:t>
            </a:r>
            <a:r>
              <a:rPr lang="en-US" sz="3200" b="1" dirty="0" smtClean="0">
                <a:solidFill>
                  <a:srgbClr val="0000FF"/>
                </a:solidFill>
              </a:rPr>
              <a:t>time bin t</a:t>
            </a:r>
          </a:p>
        </p:txBody>
      </p:sp>
      <p:pic>
        <p:nvPicPr>
          <p:cNvPr id="18" name="Picture 17" descr="CodeCogsEqn (4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09" y="2474775"/>
            <a:ext cx="8602202" cy="271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02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 Anomaly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-75559" y="2281642"/>
            <a:ext cx="9144000" cy="2305050"/>
            <a:chOff x="-75559" y="1577865"/>
            <a:chExt cx="9144000" cy="2305050"/>
          </a:xfrm>
        </p:grpSpPr>
        <p:graphicFrame>
          <p:nvGraphicFramePr>
            <p:cNvPr id="11" name="Chart 1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39899924"/>
                </p:ext>
              </p:extLst>
            </p:nvPr>
          </p:nvGraphicFramePr>
          <p:xfrm>
            <a:off x="-75559" y="1577865"/>
            <a:ext cx="9144000" cy="2305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6" name="Rectangle 5"/>
            <p:cNvSpPr/>
            <p:nvPr/>
          </p:nvSpPr>
          <p:spPr>
            <a:xfrm>
              <a:off x="609601" y="1577865"/>
              <a:ext cx="8341229" cy="365171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484155" y="1927737"/>
              <a:ext cx="214208" cy="73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05410" y="1927737"/>
              <a:ext cx="796234" cy="73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38199" y="1927737"/>
              <a:ext cx="214208" cy="73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39840" y="1916457"/>
              <a:ext cx="520824" cy="7343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892393" y="2208488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Power outage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44047" y="1879939"/>
            <a:ext cx="2480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Service outage </a:t>
            </a:r>
            <a:br>
              <a:rPr lang="en-US" sz="2400" b="1" dirty="0" smtClean="0"/>
            </a:br>
            <a:r>
              <a:rPr lang="en-US" sz="2400" b="1" dirty="0" smtClean="0"/>
              <a:t>due to DOS attack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109783" y="1849341"/>
            <a:ext cx="2800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Low bandwidth</a:t>
            </a:r>
          </a:p>
          <a:p>
            <a:r>
              <a:rPr lang="en-US" sz="2400" b="1" dirty="0" smtClean="0"/>
              <a:t>due to maintenance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73958" y="4915602"/>
            <a:ext cx="8694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Output</a:t>
            </a:r>
            <a:r>
              <a:rPr lang="en-US" sz="2800" b="1" dirty="0" smtClean="0"/>
              <a:t>: anomaly indicator = </a:t>
            </a:r>
            <a:r>
              <a:rPr lang="en-US" sz="2800" b="1" dirty="0" smtClean="0">
                <a:solidFill>
                  <a:srgbClr val="0000FF"/>
                </a:solidFill>
              </a:rPr>
              <a:t> </a:t>
            </a:r>
            <a:br>
              <a:rPr lang="en-US" sz="2800" b="1" dirty="0" smtClean="0">
                <a:solidFill>
                  <a:srgbClr val="0000FF"/>
                </a:solidFill>
              </a:rPr>
            </a:br>
            <a:r>
              <a:rPr lang="en-US" sz="2600" dirty="0" smtClean="0"/>
              <a:t>[ 0 0 0 </a:t>
            </a:r>
            <a:r>
              <a:rPr lang="en-US" sz="2600" b="1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/>
              <a:t> 0 0 0 0 0 </a:t>
            </a:r>
            <a:r>
              <a:rPr lang="en-US" sz="2600" b="1" dirty="0" smtClean="0">
                <a:solidFill>
                  <a:srgbClr val="FF0000"/>
                </a:solidFill>
              </a:rPr>
              <a:t>1 1 1</a:t>
            </a:r>
            <a:r>
              <a:rPr lang="en-US" sz="2600" dirty="0" smtClean="0"/>
              <a:t> 0 0 0 0 0 0 </a:t>
            </a:r>
            <a:r>
              <a:rPr lang="en-US" sz="2600" b="1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/>
              <a:t> 0 0 0 0 0 0 0 0 0 0 0 ]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33364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Customers respond to an </a:t>
            </a:r>
            <a:r>
              <a:rPr lang="en-US" sz="2800" dirty="0" smtClean="0">
                <a:solidFill>
                  <a:schemeClr val="tx1"/>
                </a:solidFill>
              </a:rPr>
              <a:t>anomaly in </a:t>
            </a:r>
            <a:r>
              <a:rPr lang="en-US" sz="2800" dirty="0">
                <a:solidFill>
                  <a:schemeClr val="tx1"/>
                </a:solidFill>
              </a:rPr>
              <a:t>different ways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Events may not be detectable </a:t>
            </a:r>
            <a:r>
              <a:rPr lang="en-US" sz="2800" dirty="0" smtClean="0">
                <a:solidFill>
                  <a:schemeClr val="tx1"/>
                </a:solidFill>
              </a:rPr>
              <a:t>by a </a:t>
            </a:r>
            <a:r>
              <a:rPr lang="en-US" sz="2800" b="1" dirty="0" smtClean="0"/>
              <a:t>single category</a:t>
            </a:r>
            <a:r>
              <a:rPr lang="en-US" sz="2800" dirty="0" smtClean="0">
                <a:solidFill>
                  <a:schemeClr val="tx1"/>
                </a:solidFill>
              </a:rPr>
              <a:t>. </a:t>
            </a: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-183607" y="3410970"/>
            <a:ext cx="8349707" cy="3447030"/>
            <a:chOff x="-183607" y="3410970"/>
            <a:chExt cx="8349707" cy="3447030"/>
          </a:xfrm>
        </p:grpSpPr>
        <p:graphicFrame>
          <p:nvGraphicFramePr>
            <p:cNvPr id="17" name="Chart 1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48172193"/>
                </p:ext>
              </p:extLst>
            </p:nvPr>
          </p:nvGraphicFramePr>
          <p:xfrm>
            <a:off x="-183607" y="3738782"/>
            <a:ext cx="7634981" cy="31192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6700" y="3410970"/>
              <a:ext cx="1549400" cy="457200"/>
            </a:xfrm>
            <a:prstGeom prst="rect">
              <a:avLst/>
            </a:prstGeom>
          </p:spPr>
        </p:pic>
      </p:grpSp>
      <p:sp>
        <p:nvSpPr>
          <p:cNvPr id="23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232648" y="6384730"/>
            <a:ext cx="533400" cy="228601"/>
          </a:xfrm>
        </p:spPr>
        <p:txBody>
          <a:bodyPr/>
          <a:lstStyle/>
          <a:p>
            <a:fld id="{DCA8BAC4-C7C6-7E41-A382-BF3EA00366E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24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Customers respond to an </a:t>
            </a:r>
            <a:r>
              <a:rPr lang="en-US" sz="2800" dirty="0" smtClean="0">
                <a:solidFill>
                  <a:schemeClr val="tx1"/>
                </a:solidFill>
              </a:rPr>
              <a:t>anomaly in </a:t>
            </a:r>
            <a:r>
              <a:rPr lang="en-US" sz="2800" dirty="0">
                <a:solidFill>
                  <a:schemeClr val="tx1"/>
                </a:solidFill>
              </a:rPr>
              <a:t>different ways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Events may not be detectable </a:t>
            </a:r>
            <a:r>
              <a:rPr lang="en-US" sz="2800" dirty="0" smtClean="0">
                <a:solidFill>
                  <a:schemeClr val="tx1"/>
                </a:solidFill>
              </a:rPr>
              <a:t>by a </a:t>
            </a:r>
            <a:r>
              <a:rPr lang="en-US" sz="2800" b="1" dirty="0" smtClean="0"/>
              <a:t>single category</a:t>
            </a:r>
            <a:r>
              <a:rPr lang="en-US" sz="2800" dirty="0" smtClean="0">
                <a:solidFill>
                  <a:schemeClr val="tx1"/>
                </a:solidFill>
              </a:rPr>
              <a:t>. </a:t>
            </a: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6806008"/>
              </p:ext>
            </p:extLst>
          </p:nvPr>
        </p:nvGraphicFramePr>
        <p:xfrm>
          <a:off x="-183607" y="3738782"/>
          <a:ext cx="7634981" cy="3119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3410970"/>
            <a:ext cx="1549400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603" y="5381021"/>
            <a:ext cx="1587500" cy="393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700" y="3874520"/>
            <a:ext cx="2451100" cy="787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4661920"/>
            <a:ext cx="2463800" cy="8255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904" y="5744123"/>
            <a:ext cx="1092200" cy="393700"/>
          </a:xfrm>
          <a:prstGeom prst="rect">
            <a:avLst/>
          </a:prstGeom>
        </p:spPr>
      </p:pic>
      <p:sp>
        <p:nvSpPr>
          <p:cNvPr id="23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232648" y="6384730"/>
            <a:ext cx="533400" cy="228601"/>
          </a:xfrm>
        </p:spPr>
        <p:txBody>
          <a:bodyPr/>
          <a:lstStyle/>
          <a:p>
            <a:fld id="{DCA8BAC4-C7C6-7E41-A382-BF3EA00366E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38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602" y="6029901"/>
            <a:ext cx="2527300" cy="812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Customers respond to an </a:t>
            </a:r>
            <a:r>
              <a:rPr lang="en-US" sz="2800" dirty="0" smtClean="0">
                <a:solidFill>
                  <a:schemeClr val="tx1"/>
                </a:solidFill>
              </a:rPr>
              <a:t>anomaly in </a:t>
            </a:r>
            <a:r>
              <a:rPr lang="en-US" sz="2800" dirty="0">
                <a:solidFill>
                  <a:schemeClr val="tx1"/>
                </a:solidFill>
              </a:rPr>
              <a:t>different ways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Events may not be detectable </a:t>
            </a:r>
            <a:r>
              <a:rPr lang="en-US" sz="2800" dirty="0" smtClean="0">
                <a:solidFill>
                  <a:schemeClr val="tx1"/>
                </a:solidFill>
              </a:rPr>
              <a:t>by a </a:t>
            </a:r>
            <a:r>
              <a:rPr lang="en-US" sz="2800" b="1" dirty="0" smtClean="0"/>
              <a:t>single category</a:t>
            </a:r>
            <a:r>
              <a:rPr lang="en-US" sz="2800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There </a:t>
            </a:r>
            <a:r>
              <a:rPr lang="en-US" sz="2800" dirty="0" smtClean="0">
                <a:solidFill>
                  <a:schemeClr val="tx1"/>
                </a:solidFill>
              </a:rPr>
              <a:t>are </a:t>
            </a:r>
            <a:r>
              <a:rPr lang="en-US" sz="2800" b="1" dirty="0" smtClean="0"/>
              <a:t>thousands of categories</a:t>
            </a:r>
            <a:r>
              <a:rPr lang="en-US" sz="2800" dirty="0" smtClean="0">
                <a:solidFill>
                  <a:schemeClr val="tx1"/>
                </a:solidFill>
              </a:rPr>
              <a:t>. </a:t>
            </a: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9129524"/>
              </p:ext>
            </p:extLst>
          </p:nvPr>
        </p:nvGraphicFramePr>
        <p:xfrm>
          <a:off x="-183607" y="3738782"/>
          <a:ext cx="7634981" cy="3119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700" y="3410970"/>
            <a:ext cx="1549400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603" y="5381021"/>
            <a:ext cx="1587500" cy="393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3874520"/>
            <a:ext cx="2451100" cy="787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000" y="4661920"/>
            <a:ext cx="2463800" cy="8255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904" y="5744123"/>
            <a:ext cx="1092200" cy="3937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320226" y="4023768"/>
            <a:ext cx="183607" cy="2356123"/>
          </a:xfrm>
          <a:prstGeom prst="ellipse">
            <a:avLst/>
          </a:prstGeom>
          <a:noFill/>
          <a:ln w="19050" cmpd="sng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2295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Inconsistent </a:t>
            </a:r>
            <a:r>
              <a:rPr lang="en-US" b="1" dirty="0"/>
              <a:t>classification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across agents and across call </a:t>
            </a:r>
            <a:r>
              <a:rPr lang="en-US" dirty="0" smtClean="0">
                <a:solidFill>
                  <a:schemeClr val="tx1"/>
                </a:solidFill>
              </a:rPr>
              <a:t>centers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079384"/>
              </p:ext>
            </p:extLst>
          </p:nvPr>
        </p:nvGraphicFramePr>
        <p:xfrm>
          <a:off x="0" y="2755900"/>
          <a:ext cx="9144000" cy="410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2755900"/>
            <a:ext cx="9144000" cy="66071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376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>
        <p:bldAsOne/>
      </p:bldGraphic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Approach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 use </a:t>
            </a:r>
            <a:r>
              <a:rPr lang="en-US" b="1" dirty="0"/>
              <a:t>regression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approach the problem by casting it as an inference </a:t>
            </a:r>
            <a:r>
              <a:rPr lang="en-US" dirty="0" smtClean="0">
                <a:solidFill>
                  <a:schemeClr val="tx1"/>
                </a:solidFill>
              </a:rPr>
              <a:t>problem: 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865686"/>
            <a:ext cx="2292350" cy="626814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1571625" y="3556000"/>
            <a:ext cx="6429375" cy="539750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rgbClr val="000000"/>
                </a:solidFill>
              </a:rPr>
              <a:t>A(</a:t>
            </a:r>
            <a:r>
              <a:rPr lang="en-US" sz="3200" i="1" dirty="0" err="1">
                <a:solidFill>
                  <a:srgbClr val="000000"/>
                </a:solidFill>
              </a:rPr>
              <a:t>t</a:t>
            </a:r>
            <a:r>
              <a:rPr lang="en-US" sz="3200" i="1" dirty="0" err="1" smtClean="0">
                <a:solidFill>
                  <a:srgbClr val="000000"/>
                </a:solidFill>
              </a:rPr>
              <a:t>,n</a:t>
            </a:r>
            <a:r>
              <a:rPr lang="en-US" sz="3200" i="1" dirty="0" smtClean="0">
                <a:solidFill>
                  <a:srgbClr val="000000"/>
                </a:solidFill>
              </a:rPr>
              <a:t>)</a:t>
            </a:r>
            <a:r>
              <a:rPr lang="en-US" sz="3200" dirty="0">
                <a:solidFill>
                  <a:srgbClr val="000000"/>
                </a:solidFill>
              </a:rPr>
              <a:t>: </a:t>
            </a:r>
            <a:r>
              <a:rPr lang="en-US" sz="3200" b="1" dirty="0">
                <a:solidFill>
                  <a:srgbClr val="000000"/>
                </a:solidFill>
              </a:rPr>
              <a:t># calls </a:t>
            </a:r>
            <a:r>
              <a:rPr lang="en-US" sz="3200" dirty="0">
                <a:solidFill>
                  <a:srgbClr val="000000"/>
                </a:solidFill>
              </a:rPr>
              <a:t>of category </a:t>
            </a:r>
            <a:r>
              <a:rPr lang="en-US" sz="3200" i="1" dirty="0" smtClean="0">
                <a:solidFill>
                  <a:srgbClr val="000000"/>
                </a:solidFill>
              </a:rPr>
              <a:t>n</a:t>
            </a:r>
            <a:r>
              <a:rPr lang="en-US" sz="3200" dirty="0" smtClean="0">
                <a:solidFill>
                  <a:srgbClr val="000000"/>
                </a:solidFill>
              </a:rPr>
              <a:t> </a:t>
            </a:r>
            <a:r>
              <a:rPr lang="en-US" sz="3200" dirty="0">
                <a:solidFill>
                  <a:srgbClr val="000000"/>
                </a:solidFill>
              </a:rPr>
              <a:t>at time </a:t>
            </a:r>
            <a:r>
              <a:rPr lang="en-US" sz="3200" i="1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1625" y="4289425"/>
            <a:ext cx="6429375" cy="539750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rgbClr val="000000"/>
                </a:solidFill>
              </a:rPr>
              <a:t>x</a:t>
            </a:r>
            <a:r>
              <a:rPr lang="en-US" sz="3200" i="1" dirty="0" smtClean="0">
                <a:solidFill>
                  <a:srgbClr val="000000"/>
                </a:solidFill>
              </a:rPr>
              <a:t>(n)</a:t>
            </a:r>
            <a:r>
              <a:rPr lang="en-US" sz="3200" dirty="0">
                <a:solidFill>
                  <a:srgbClr val="000000"/>
                </a:solidFill>
              </a:rPr>
              <a:t>: </a:t>
            </a:r>
            <a:r>
              <a:rPr lang="en-US" sz="3200" b="1" dirty="0">
                <a:solidFill>
                  <a:srgbClr val="000000"/>
                </a:solidFill>
              </a:rPr>
              <a:t>weight </a:t>
            </a:r>
            <a:r>
              <a:rPr lang="en-US" sz="3200" dirty="0">
                <a:solidFill>
                  <a:srgbClr val="000000"/>
                </a:solidFill>
              </a:rPr>
              <a:t>of the </a:t>
            </a:r>
            <a:r>
              <a:rPr lang="en-US" sz="3200" i="1" dirty="0" smtClean="0">
                <a:solidFill>
                  <a:srgbClr val="000000"/>
                </a:solidFill>
              </a:rPr>
              <a:t>n-</a:t>
            </a:r>
            <a:r>
              <a:rPr lang="en-US" sz="3200" i="1" dirty="0" err="1">
                <a:solidFill>
                  <a:srgbClr val="000000"/>
                </a:solidFill>
              </a:rPr>
              <a:t>th</a:t>
            </a:r>
            <a:r>
              <a:rPr lang="en-US" sz="3200" dirty="0">
                <a:solidFill>
                  <a:srgbClr val="000000"/>
                </a:solidFill>
              </a:rPr>
              <a:t> category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71625" y="5029200"/>
            <a:ext cx="6429375" cy="539750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rgbClr val="000000"/>
                </a:solidFill>
              </a:rPr>
              <a:t>b(t)</a:t>
            </a:r>
            <a:r>
              <a:rPr lang="en-US" sz="3200" dirty="0">
                <a:solidFill>
                  <a:srgbClr val="000000"/>
                </a:solidFill>
              </a:rPr>
              <a:t>: </a:t>
            </a:r>
            <a:r>
              <a:rPr lang="en-US" sz="3200" b="1" dirty="0">
                <a:solidFill>
                  <a:srgbClr val="000000"/>
                </a:solidFill>
              </a:rPr>
              <a:t>anomaly</a:t>
            </a:r>
            <a:r>
              <a:rPr lang="en-US" sz="3200" dirty="0">
                <a:solidFill>
                  <a:srgbClr val="000000"/>
                </a:solidFill>
              </a:rPr>
              <a:t> indicator at time </a:t>
            </a:r>
            <a:r>
              <a:rPr lang="en-US" sz="3200" i="1" dirty="0">
                <a:solidFill>
                  <a:srgbClr val="00000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152625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Font typeface="Arial"/>
              <a:buChar char="•"/>
            </a:pPr>
            <a:r>
              <a:rPr lang="en-US" sz="3200" b="1" dirty="0" smtClean="0">
                <a:solidFill>
                  <a:srgbClr val="0000FF"/>
                </a:solidFill>
              </a:rPr>
              <a:t>Training set</a:t>
            </a:r>
            <a:r>
              <a:rPr lang="en-US" sz="3200" dirty="0" smtClean="0">
                <a:solidFill>
                  <a:srgbClr val="0000FF"/>
                </a:solidFill>
              </a:rPr>
              <a:t>:</a:t>
            </a:r>
            <a:r>
              <a:rPr lang="en-US" sz="3200" dirty="0" smtClean="0"/>
              <a:t> the history </a:t>
            </a:r>
            <a:r>
              <a:rPr lang="en-US" sz="3200" dirty="0" smtClean="0"/>
              <a:t>data</a:t>
            </a:r>
            <a:endParaRPr lang="en-US" sz="3200" dirty="0" smtClean="0"/>
          </a:p>
          <a:p>
            <a:pPr marL="742950" lvl="2" indent="-342900"/>
            <a:r>
              <a:rPr lang="en-US" sz="2800" b="1" dirty="0" smtClean="0">
                <a:solidFill>
                  <a:srgbClr val="0000FF"/>
                </a:solidFill>
              </a:rPr>
              <a:t>A</a:t>
            </a:r>
            <a:r>
              <a:rPr lang="en-US" sz="2800" dirty="0" smtClean="0"/>
              <a:t>: Input </a:t>
            </a:r>
            <a:r>
              <a:rPr lang="en-US" sz="2800" dirty="0" err="1" smtClean="0"/>
              <a:t>timeseries</a:t>
            </a:r>
            <a:r>
              <a:rPr lang="en-US" sz="2800" dirty="0" smtClean="0"/>
              <a:t> of customer care calls</a:t>
            </a:r>
          </a:p>
          <a:p>
            <a:pPr marL="742950" lvl="2" indent="-342900"/>
            <a:r>
              <a:rPr lang="en-US" sz="2800" b="1" dirty="0">
                <a:solidFill>
                  <a:srgbClr val="0000FF"/>
                </a:solidFill>
              </a:rPr>
              <a:t>b</a:t>
            </a:r>
            <a:r>
              <a:rPr lang="en-US" sz="2800" dirty="0"/>
              <a:t>: Ground-truth </a:t>
            </a:r>
            <a:r>
              <a:rPr lang="en-US" sz="2800" dirty="0" smtClean="0"/>
              <a:t>of when </a:t>
            </a:r>
            <a:r>
              <a:rPr lang="en-US" sz="2800" dirty="0"/>
              <a:t>anomalies take place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742950" lvl="2" indent="-342900"/>
            <a:r>
              <a:rPr lang="en-US" sz="2800" b="1" dirty="0" smtClean="0">
                <a:solidFill>
                  <a:srgbClr val="FF0000"/>
                </a:solidFill>
              </a:rPr>
              <a:t>x</a:t>
            </a:r>
            <a:r>
              <a:rPr lang="en-US" sz="2800" dirty="0" smtClean="0"/>
              <a:t>: </a:t>
            </a:r>
            <a:r>
              <a:rPr lang="en-US" sz="2800" dirty="0"/>
              <a:t>The weight </a:t>
            </a:r>
            <a:r>
              <a:rPr lang="en-US" sz="2800" dirty="0" smtClean="0"/>
              <a:t>to learn</a:t>
            </a:r>
          </a:p>
          <a:p>
            <a:pPr marL="0" lvl="1" indent="0">
              <a:buNone/>
            </a:pPr>
            <a:endParaRPr lang="en-US" sz="3200" b="1" dirty="0" smtClean="0"/>
          </a:p>
          <a:p>
            <a:pPr marL="342900" lvl="1" indent="-342900">
              <a:buFont typeface="Arial"/>
              <a:buChar char="•"/>
            </a:pPr>
            <a:r>
              <a:rPr lang="en-US" sz="3200" b="1" dirty="0" smtClean="0">
                <a:solidFill>
                  <a:srgbClr val="0000FF"/>
                </a:solidFill>
              </a:rPr>
              <a:t>Testing set</a:t>
            </a:r>
            <a:r>
              <a:rPr lang="en-US" sz="3200" dirty="0" smtClean="0">
                <a:solidFill>
                  <a:srgbClr val="0000FF"/>
                </a:solidFill>
              </a:rPr>
              <a:t>:</a:t>
            </a:r>
            <a:r>
              <a:rPr lang="en-US" sz="3200" dirty="0" smtClean="0"/>
              <a:t> </a:t>
            </a:r>
          </a:p>
          <a:p>
            <a:pPr marL="742950" lvl="2" indent="-342900"/>
            <a:r>
              <a:rPr lang="en-US" sz="2800" b="1" dirty="0" smtClean="0">
                <a:solidFill>
                  <a:srgbClr val="0000FF"/>
                </a:solidFill>
              </a:rPr>
              <a:t>A’</a:t>
            </a:r>
            <a:r>
              <a:rPr lang="en-US" sz="2800" dirty="0" smtClean="0"/>
              <a:t>: The latest customer care call </a:t>
            </a:r>
            <a:r>
              <a:rPr lang="en-US" sz="2800" dirty="0" err="1" smtClean="0"/>
              <a:t>timeseries</a:t>
            </a:r>
            <a:endParaRPr lang="en-US" sz="2800" dirty="0" smtClean="0"/>
          </a:p>
          <a:p>
            <a:pPr marL="742950" lvl="2" indent="-342900"/>
            <a:r>
              <a:rPr lang="en-US" sz="2800" b="1" dirty="0" smtClean="0">
                <a:solidFill>
                  <a:srgbClr val="0000FF"/>
                </a:solidFill>
              </a:rPr>
              <a:t>x</a:t>
            </a:r>
            <a:r>
              <a:rPr lang="en-US" sz="2800" dirty="0" smtClean="0"/>
              <a:t>: The weight learning from training set</a:t>
            </a:r>
          </a:p>
          <a:p>
            <a:pPr marL="742950" lvl="2" indent="-342900"/>
            <a:r>
              <a:rPr lang="en-US" sz="2800" b="1" dirty="0" smtClean="0">
                <a:solidFill>
                  <a:srgbClr val="FF0000"/>
                </a:solidFill>
              </a:rPr>
              <a:t>b’</a:t>
            </a:r>
            <a:r>
              <a:rPr lang="en-US" sz="2800" dirty="0" smtClean="0"/>
              <a:t>: The anomaly to detect</a:t>
            </a:r>
          </a:p>
          <a:p>
            <a:endParaRPr lang="en-US" sz="36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841625" y="3515034"/>
            <a:ext cx="49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latin typeface="Helvetica"/>
                <a:cs typeface="Helvetica"/>
              </a:rPr>
              <a:t>A</a:t>
            </a:r>
            <a:endParaRPr lang="en-US" sz="3600" dirty="0">
              <a:solidFill>
                <a:srgbClr val="0000FF"/>
              </a:solidFill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1162" y="3515034"/>
            <a:ext cx="441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latin typeface="Helvetica"/>
                <a:cs typeface="Helvetica"/>
              </a:rPr>
              <a:t>b</a:t>
            </a:r>
            <a:endParaRPr lang="en-US" sz="3600" dirty="0">
              <a:solidFill>
                <a:srgbClr val="0000FF"/>
              </a:solidFill>
              <a:latin typeface="Helvetica"/>
              <a:cs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89969" y="3515034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lang="en-US" sz="36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2447" y="3513665"/>
            <a:ext cx="45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"/>
                <a:cs typeface="Helvetica"/>
              </a:rPr>
              <a:t>=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994025" y="5986681"/>
            <a:ext cx="580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latin typeface="Helvetica"/>
                <a:cs typeface="Helvetica"/>
              </a:rPr>
              <a:t>A’</a:t>
            </a:r>
            <a:endParaRPr lang="en-US" sz="3600" dirty="0">
              <a:solidFill>
                <a:srgbClr val="0000FF"/>
              </a:solidFill>
              <a:latin typeface="Helvetica"/>
              <a:cs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63562" y="5986681"/>
            <a:ext cx="543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Helvetica"/>
                <a:cs typeface="Helvetica"/>
              </a:rPr>
              <a:t>b’</a:t>
            </a:r>
            <a:endParaRPr lang="en-US" sz="36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21744" y="598668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lang="en-US" sz="3600" dirty="0">
              <a:solidFill>
                <a:srgbClr val="0000FF"/>
              </a:solidFill>
              <a:latin typeface="Helvetica"/>
              <a:cs typeface="Helvetic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4847" y="5985312"/>
            <a:ext cx="45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"/>
                <a:cs typeface="Helvetica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498040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Issues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Dynamic </a:t>
            </a:r>
            <a:r>
              <a:rPr lang="en-US" b="1" i="1" dirty="0" smtClean="0"/>
              <a:t>x</a:t>
            </a:r>
          </a:p>
          <a:p>
            <a:pPr lvl="1"/>
            <a:r>
              <a:rPr lang="en-US" dirty="0" smtClean="0"/>
              <a:t>The relationship between customer care calls and anomalies may change.</a:t>
            </a:r>
          </a:p>
          <a:p>
            <a:r>
              <a:rPr lang="en-US" b="1" dirty="0"/>
              <a:t>Under-</a:t>
            </a:r>
            <a:r>
              <a:rPr lang="en-US" b="1" dirty="0" smtClean="0"/>
              <a:t>constraints</a:t>
            </a:r>
          </a:p>
          <a:p>
            <a:pPr lvl="1"/>
            <a:r>
              <a:rPr lang="en-US" dirty="0" smtClean="0"/>
              <a:t># categories can be larger than # training traces</a:t>
            </a:r>
          </a:p>
          <a:p>
            <a:r>
              <a:rPr lang="en-US" b="1" dirty="0"/>
              <a:t>Over-fitting </a:t>
            </a:r>
            <a:endParaRPr lang="en-US" b="1" dirty="0" smtClean="0"/>
          </a:p>
          <a:p>
            <a:pPr lvl="1"/>
            <a:r>
              <a:rPr lang="en-US" dirty="0"/>
              <a:t>The weights </a:t>
            </a:r>
            <a:r>
              <a:rPr lang="en-US" dirty="0" smtClean="0"/>
              <a:t>begin </a:t>
            </a:r>
            <a:r>
              <a:rPr lang="en-US" dirty="0"/>
              <a:t>to memorize training data rather than learning the </a:t>
            </a:r>
            <a:r>
              <a:rPr lang="en-US" dirty="0" smtClean="0"/>
              <a:t>generic trend</a:t>
            </a:r>
            <a:endParaRPr lang="en-US" b="1" dirty="0" smtClean="0"/>
          </a:p>
          <a:p>
            <a:r>
              <a:rPr lang="en-US" b="1" dirty="0" smtClean="0"/>
              <a:t>Scalability</a:t>
            </a:r>
          </a:p>
          <a:p>
            <a:pPr lvl="1"/>
            <a:r>
              <a:rPr lang="en-US" dirty="0" smtClean="0"/>
              <a:t>There are thousands of categories and thousands of time intervals.</a:t>
            </a:r>
            <a:endParaRPr lang="en-US" dirty="0"/>
          </a:p>
          <a:p>
            <a:r>
              <a:rPr lang="en-US" b="1" dirty="0"/>
              <a:t>Varying customer response time </a:t>
            </a:r>
            <a:endParaRPr lang="en-US" b="1" dirty="0" smtClean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532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System Overview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dirty="0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17712" y="1983720"/>
            <a:ext cx="5584825" cy="1683405"/>
          </a:xfrm>
          <a:prstGeom prst="roundRect">
            <a:avLst/>
          </a:prstGeom>
          <a:noFill/>
          <a:ln w="28575" cmpd="sng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794125" y="2120899"/>
            <a:ext cx="2000250" cy="53974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971472"/>
            <a:ext cx="5016500" cy="457855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0" y="4346575"/>
            <a:ext cx="2127250" cy="892175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Temporal stability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21250" y="4346575"/>
            <a:ext cx="2305330" cy="892175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4375" y="5857875"/>
            <a:ext cx="3079750" cy="793750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7712" y="1478103"/>
            <a:ext cx="3241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Reducing Categories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3587" y="3615452"/>
            <a:ext cx="1806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Regression</a:t>
            </a:r>
            <a:endParaRPr lang="en-US" sz="28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033587" y="4123669"/>
            <a:ext cx="5616575" cy="1305581"/>
          </a:xfrm>
          <a:prstGeom prst="roundRect">
            <a:avLst/>
          </a:prstGeom>
          <a:noFill/>
          <a:ln w="28575" cmpd="sng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7" idx="2"/>
            <a:endCxn id="9" idx="0"/>
          </p:cNvCxnSpPr>
          <p:nvPr/>
        </p:nvCxnSpPr>
        <p:spPr>
          <a:xfrm>
            <a:off x="4794250" y="2660648"/>
            <a:ext cx="0" cy="310824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</p:cNvCxnSpPr>
          <p:nvPr/>
        </p:nvCxnSpPr>
        <p:spPr>
          <a:xfrm>
            <a:off x="4794250" y="3429327"/>
            <a:ext cx="0" cy="694342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794250" y="5429250"/>
            <a:ext cx="0" cy="428625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25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525666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Agents </a:t>
            </a:r>
            <a:r>
              <a:rPr lang="en-US" dirty="0"/>
              <a:t>usually classify calls based on the </a:t>
            </a:r>
            <a:r>
              <a:rPr lang="en-US" b="1" dirty="0"/>
              <a:t>textual </a:t>
            </a:r>
            <a:r>
              <a:rPr lang="en-US" b="1" dirty="0" smtClean="0"/>
              <a:t>names </a:t>
            </a:r>
            <a:r>
              <a:rPr lang="en-US" dirty="0" smtClean="0"/>
              <a:t>of categories.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 </a:t>
            </a:r>
            <a:r>
              <a:rPr lang="en-US" dirty="0" smtClean="0"/>
              <a:t>“</a:t>
            </a:r>
            <a:r>
              <a:rPr lang="en-US" b="1" dirty="0" smtClean="0"/>
              <a:t>Equipment</a:t>
            </a:r>
            <a:r>
              <a:rPr lang="en-US" dirty="0" smtClean="0"/>
              <a:t>”</a:t>
            </a:r>
            <a:r>
              <a:rPr lang="en-US" b="1" dirty="0" smtClean="0"/>
              <a:t>, </a:t>
            </a:r>
            <a:r>
              <a:rPr lang="en-US" dirty="0" smtClean="0"/>
              <a:t>“</a:t>
            </a:r>
            <a:r>
              <a:rPr lang="en-US" b="1" dirty="0" smtClean="0"/>
              <a:t>Equipment problem</a:t>
            </a:r>
            <a:r>
              <a:rPr lang="en-US" dirty="0" smtClean="0"/>
              <a:t>”, and </a:t>
            </a:r>
            <a:r>
              <a:rPr lang="en-US" b="1" dirty="0" smtClean="0"/>
              <a:t>“Troubleshooting- Equipment”</a:t>
            </a:r>
            <a:r>
              <a:rPr lang="en-US" dirty="0" smtClean="0"/>
              <a:t> </a:t>
            </a:r>
          </a:p>
          <a:p>
            <a:r>
              <a:rPr lang="en-US" dirty="0" smtClean="0"/>
              <a:t>Cluster </a:t>
            </a:r>
            <a:r>
              <a:rPr lang="en-US" dirty="0"/>
              <a:t>categories based on the similarity of their textual </a:t>
            </a:r>
            <a:r>
              <a:rPr lang="en-US" dirty="0" smtClean="0"/>
              <a:t>names </a:t>
            </a:r>
          </a:p>
          <a:p>
            <a:pPr lvl="1"/>
            <a:r>
              <a:rPr lang="en-US" b="1" dirty="0" smtClean="0"/>
              <a:t>Dice’s </a:t>
            </a:r>
            <a:r>
              <a:rPr lang="en-US" b="1" dirty="0"/>
              <a:t>coefficient </a:t>
            </a:r>
            <a:endParaRPr lang="en-US" b="1" dirty="0" smtClean="0"/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Rounded Rectangle 4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Temporal stability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Reducing Categories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Regression</a:t>
            </a:r>
            <a:endParaRPr lang="en-US" sz="2400" dirty="0"/>
          </a:p>
        </p:txBody>
      </p:sp>
      <p:sp>
        <p:nvSpPr>
          <p:cNvPr id="12" name="Rounded Rectangle 11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12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9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240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Important Categories</a:t>
            </a:r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525666" cy="4525963"/>
          </a:xfrm>
        </p:spPr>
        <p:txBody>
          <a:bodyPr/>
          <a:lstStyle/>
          <a:p>
            <a:r>
              <a:rPr lang="en-US" b="1" dirty="0" smtClean="0"/>
              <a:t>L</a:t>
            </a:r>
            <a:r>
              <a:rPr lang="en-US" b="1" baseline="-25000" dirty="0" smtClean="0"/>
              <a:t>1</a:t>
            </a:r>
            <a:r>
              <a:rPr lang="en-US" b="1" dirty="0" smtClean="0"/>
              <a:t>-</a:t>
            </a:r>
            <a:r>
              <a:rPr lang="en-US" b="1" dirty="0"/>
              <a:t>norm </a:t>
            </a:r>
            <a:r>
              <a:rPr lang="en-US" b="1" dirty="0" smtClean="0"/>
              <a:t>regularization</a:t>
            </a:r>
          </a:p>
          <a:p>
            <a:pPr lvl="1"/>
            <a:r>
              <a:rPr lang="en-US" dirty="0" smtClean="0"/>
              <a:t>Penalize all factors in x equally and make x </a:t>
            </a:r>
            <a:r>
              <a:rPr lang="en-US" b="1" dirty="0" smtClean="0"/>
              <a:t>sparse</a:t>
            </a:r>
          </a:p>
          <a:p>
            <a:pPr lvl="1"/>
            <a:r>
              <a:rPr lang="en-US" dirty="0" smtClean="0"/>
              <a:t>Select </a:t>
            </a:r>
            <a:r>
              <a:rPr lang="en-US" dirty="0"/>
              <a:t>categories with corresponding value in x is not 0</a:t>
            </a:r>
          </a:p>
          <a:p>
            <a:pPr lvl="1"/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ounded Rectangle 21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Identifying important categories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Temporal stability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Reducing Categories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Regression</a:t>
            </a:r>
            <a:endParaRPr lang="en-US" sz="2400" dirty="0"/>
          </a:p>
        </p:txBody>
      </p:sp>
      <p:sp>
        <p:nvSpPr>
          <p:cNvPr id="29" name="Rounded Rectangle 28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0" name="Straight Arrow Connector 29"/>
          <p:cNvCxnSpPr>
            <a:stCxn id="22" idx="2"/>
            <a:endCxn id="23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2"/>
            <a:endCxn id="29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2"/>
            <a:endCxn id="26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 descr="CodeCogsEqn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4598811"/>
            <a:ext cx="5000172" cy="84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119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6515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Impose additional structures for </a:t>
            </a:r>
            <a:r>
              <a:rPr lang="en-US" sz="2800" b="1" dirty="0" smtClean="0"/>
              <a:t>under-constraints </a:t>
            </a:r>
            <a:r>
              <a:rPr lang="en-US" sz="2800" dirty="0" smtClean="0"/>
              <a:t>and </a:t>
            </a:r>
            <a:r>
              <a:rPr lang="en-US" sz="2800" b="1" dirty="0" smtClean="0"/>
              <a:t>over-fitting</a:t>
            </a:r>
            <a:endParaRPr lang="en-US" sz="2800" dirty="0" smtClean="0"/>
          </a:p>
          <a:p>
            <a:pPr lvl="1"/>
            <a:r>
              <a:rPr lang="en-US" dirty="0" smtClean="0"/>
              <a:t>The weight values are stable</a:t>
            </a:r>
          </a:p>
          <a:p>
            <a:pPr lvl="1"/>
            <a:r>
              <a:rPr lang="en-US" dirty="0" smtClean="0"/>
              <a:t>Small number of factors of dominate anomalies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Fitting Error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2" name="Picture 21" descr="CodeCogsEqn (1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51" y="5136207"/>
            <a:ext cx="4405304" cy="989956"/>
          </a:xfrm>
          <a:prstGeom prst="rect">
            <a:avLst/>
          </a:prstGeom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ounded Rectangle 22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Clustering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Temporal stability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Reducing Categories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Regression</a:t>
            </a:r>
            <a:endParaRPr lang="en-US" sz="2400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1" name="Straight Arrow Connector 30"/>
          <p:cNvCxnSpPr>
            <a:stCxn id="23" idx="2"/>
            <a:endCxn id="24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2"/>
            <a:endCxn id="30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2"/>
            <a:endCxn id="27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459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651500" cy="4525963"/>
          </a:xfrm>
        </p:spPr>
        <p:txBody>
          <a:bodyPr>
            <a:normAutofit/>
          </a:bodyPr>
          <a:lstStyle/>
          <a:p>
            <a:r>
              <a:rPr lang="en-US" b="1" dirty="0" smtClean="0"/>
              <a:t>Temporal stability</a:t>
            </a:r>
          </a:p>
          <a:p>
            <a:pPr lvl="1"/>
            <a:r>
              <a:rPr lang="en-US" dirty="0" smtClean="0"/>
              <a:t>The weight values are stable across consecutive days.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CodeCogsEqn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3064098"/>
            <a:ext cx="3384550" cy="8786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488" y="4498220"/>
            <a:ext cx="4573033" cy="2410888"/>
          </a:xfrm>
          <a:prstGeom prst="rect">
            <a:avLst/>
          </a:prstGeom>
        </p:spPr>
      </p:pic>
      <p:pic>
        <p:nvPicPr>
          <p:cNvPr id="6" name="Picture 5" descr="CodeCogsEqn (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113" y="4110105"/>
            <a:ext cx="2264262" cy="419863"/>
          </a:xfrm>
          <a:prstGeom prst="rect">
            <a:avLst/>
          </a:prstGeom>
        </p:spPr>
      </p:pic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Rounded Rectangle 23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Temporal stability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Reducing Categories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Regression</a:t>
            </a:r>
            <a:endParaRPr lang="en-US" sz="2400" b="1" dirty="0"/>
          </a:p>
        </p:txBody>
      </p:sp>
      <p:sp>
        <p:nvSpPr>
          <p:cNvPr id="31" name="Rounded Rectangle 30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2" name="Straight Arrow Connector 31"/>
          <p:cNvCxnSpPr>
            <a:stCxn id="24" idx="2"/>
            <a:endCxn id="25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2"/>
            <a:endCxn id="31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1" idx="2"/>
            <a:endCxn id="28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490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651500" cy="4525963"/>
          </a:xfrm>
        </p:spPr>
        <p:txBody>
          <a:bodyPr>
            <a:normAutofit/>
          </a:bodyPr>
          <a:lstStyle/>
          <a:p>
            <a:r>
              <a:rPr lang="en-US" b="1" dirty="0" smtClean="0"/>
              <a:t>Low-rank structure</a:t>
            </a:r>
          </a:p>
          <a:p>
            <a:pPr lvl="1"/>
            <a:r>
              <a:rPr lang="en-US" dirty="0" smtClean="0"/>
              <a:t>The weight values exhibit </a:t>
            </a:r>
            <a:r>
              <a:rPr lang="en-US" dirty="0"/>
              <a:t>low-rank structure due to the </a:t>
            </a:r>
            <a:r>
              <a:rPr lang="en-US" i="1" dirty="0" smtClean="0"/>
              <a:t>temporal </a:t>
            </a:r>
            <a:r>
              <a:rPr lang="en-US" i="1" dirty="0"/>
              <a:t>stability </a:t>
            </a:r>
            <a:r>
              <a:rPr lang="en-US" dirty="0" smtClean="0"/>
              <a:t>and </a:t>
            </a:r>
            <a:r>
              <a:rPr lang="en-US" dirty="0"/>
              <a:t>the small number of dominant factors that cause the anomalies.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CodeCogsEqn (3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25" y="4521200"/>
            <a:ext cx="4768850" cy="814930"/>
          </a:xfrm>
          <a:prstGeom prst="rect">
            <a:avLst/>
          </a:prstGeom>
        </p:spPr>
      </p:pic>
      <p:pic>
        <p:nvPicPr>
          <p:cNvPr id="5" name="Picture 4" descr="CodeCogsEqn (4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25" y="5456251"/>
            <a:ext cx="2206626" cy="441325"/>
          </a:xfrm>
          <a:prstGeom prst="rect">
            <a:avLst/>
          </a:prstGeom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ounded Rectangle 22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Temporal stability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Low-rank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Reducing Categories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Regression</a:t>
            </a:r>
            <a:endParaRPr lang="en-US" sz="2400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1" name="Straight Arrow Connector 30"/>
          <p:cNvCxnSpPr>
            <a:stCxn id="23" idx="2"/>
            <a:endCxn id="24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2"/>
            <a:endCxn id="30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2"/>
            <a:endCxn id="27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682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6515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b="1" dirty="0" smtClean="0"/>
              <a:t>weight X</a:t>
            </a:r>
            <a:r>
              <a:rPr lang="en-US" dirty="0" smtClean="0"/>
              <a:t> that minimize: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" name="Picture 19" descr="CodeCogsEqn (13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84474"/>
            <a:ext cx="2415117" cy="517525"/>
          </a:xfrm>
          <a:prstGeom prst="rect">
            <a:avLst/>
          </a:prstGeom>
        </p:spPr>
      </p:pic>
      <p:pic>
        <p:nvPicPr>
          <p:cNvPr id="21" name="Picture 20" descr="CodeCogsEqn (14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22226"/>
            <a:ext cx="5384800" cy="455054"/>
          </a:xfrm>
          <a:prstGeom prst="rect">
            <a:avLst/>
          </a:prstGeom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ounded Rectangle 22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Temporal stability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Low-rank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Combining multiple classifiers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Reducing Categories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Regression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1" name="Straight Arrow Connector 30"/>
          <p:cNvCxnSpPr>
            <a:stCxn id="23" idx="2"/>
            <a:endCxn id="24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2"/>
            <a:endCxn id="30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2"/>
            <a:endCxn id="27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8" y="4032000"/>
            <a:ext cx="4084625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rgbClr val="000000"/>
                </a:solidFill>
              </a:rPr>
              <a:t>f(X): </a:t>
            </a:r>
            <a:r>
              <a:rPr lang="en-US" sz="2800" b="1" dirty="0" smtClean="0">
                <a:solidFill>
                  <a:srgbClr val="000000"/>
                </a:solidFill>
              </a:rPr>
              <a:t>Fitting error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2648" y="5520632"/>
            <a:ext cx="4084625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rgbClr val="000000"/>
                </a:solidFill>
              </a:rPr>
              <a:t>h(X,U,V): </a:t>
            </a:r>
            <a:r>
              <a:rPr lang="en-US" sz="2800" b="1" dirty="0" smtClean="0">
                <a:solidFill>
                  <a:srgbClr val="000000"/>
                </a:solidFill>
              </a:rPr>
              <a:t>Low-rank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2648" y="4762500"/>
            <a:ext cx="4084625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rgbClr val="000000"/>
                </a:solidFill>
              </a:rPr>
              <a:t>g(X): </a:t>
            </a:r>
            <a:r>
              <a:rPr lang="en-US" sz="2800" b="1" dirty="0" smtClean="0">
                <a:solidFill>
                  <a:srgbClr val="000000"/>
                </a:solidFill>
              </a:rPr>
              <a:t>Temporal </a:t>
            </a:r>
            <a:r>
              <a:rPr lang="en-US" sz="2800" b="1" dirty="0">
                <a:solidFill>
                  <a:srgbClr val="000000"/>
                </a:solidFill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1105603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Multiple Classifiers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525666" cy="4525963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b="1" dirty="0"/>
              <a:t>time scale </a:t>
            </a:r>
            <a:r>
              <a:rPr lang="en-US" dirty="0" smtClean="0"/>
              <a:t>should be used?</a:t>
            </a:r>
          </a:p>
          <a:p>
            <a:pPr lvl="1"/>
            <a:r>
              <a:rPr lang="en-US" dirty="0" smtClean="0"/>
              <a:t>Customers </a:t>
            </a:r>
            <a:r>
              <a:rPr lang="en-US" dirty="0"/>
              <a:t>do not respond to an anomaly immediately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response time may differ by hours </a:t>
            </a:r>
            <a:endParaRPr lang="en-US" dirty="0" smtClean="0"/>
          </a:p>
          <a:p>
            <a:r>
              <a:rPr lang="en-US" dirty="0" smtClean="0"/>
              <a:t>Include </a:t>
            </a:r>
            <a:r>
              <a:rPr lang="en-US" dirty="0"/>
              <a:t>calls made in previous </a:t>
            </a:r>
            <a:r>
              <a:rPr lang="en-US" i="1" dirty="0" smtClean="0"/>
              <a:t>n (1~5)</a:t>
            </a:r>
            <a:r>
              <a:rPr lang="en-US" dirty="0" smtClean="0"/>
              <a:t> </a:t>
            </a:r>
            <a:r>
              <a:rPr lang="en-US" dirty="0"/>
              <a:t>and next </a:t>
            </a:r>
            <a:r>
              <a:rPr lang="en-US" i="1" dirty="0" smtClean="0"/>
              <a:t>m (0~6)</a:t>
            </a:r>
            <a:r>
              <a:rPr lang="en-US" dirty="0" smtClean="0"/>
              <a:t> hours </a:t>
            </a:r>
            <a:r>
              <a:rPr lang="en-US" dirty="0"/>
              <a:t>as additional features.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6191249" y="1982562"/>
            <a:ext cx="2836931" cy="1520877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Rounded Rectangle 20"/>
          <p:cNvSpPr/>
          <p:nvPr/>
        </p:nvSpPr>
        <p:spPr>
          <a:xfrm>
            <a:off x="6692411" y="2061536"/>
            <a:ext cx="1807131" cy="487638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5977" y="2841625"/>
            <a:ext cx="2524124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Identifying important categories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1855" y="4042654"/>
            <a:ext cx="1277727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Temporal stability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2549" y="4042654"/>
            <a:ext cx="1249431" cy="582439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Low-rank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771" y="5094736"/>
            <a:ext cx="2782409" cy="717116"/>
          </a:xfrm>
          <a:prstGeom prst="roundRect">
            <a:avLst/>
          </a:prstGeom>
          <a:gradFill flip="none" rotWithShape="1">
            <a:gsLst>
              <a:gs pos="100000">
                <a:srgbClr val="F7FFDB"/>
              </a:gs>
              <a:gs pos="0">
                <a:srgbClr val="D8FF93"/>
              </a:gs>
              <a:gs pos="35000">
                <a:srgbClr val="E3FFBA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Combining multiple classifiers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616" y="1520897"/>
            <a:ext cx="33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Reducing Categories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2866" y="3485739"/>
            <a:ext cx="188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Regression</a:t>
            </a:r>
            <a:endParaRPr lang="en-US" sz="2400" dirty="0"/>
          </a:p>
        </p:txBody>
      </p:sp>
      <p:sp>
        <p:nvSpPr>
          <p:cNvPr id="28" name="Rounded Rectangle 27"/>
          <p:cNvSpPr/>
          <p:nvPr/>
        </p:nvSpPr>
        <p:spPr>
          <a:xfrm>
            <a:off x="6191249" y="3927284"/>
            <a:ext cx="2836931" cy="835216"/>
          </a:xfrm>
          <a:prstGeom prst="roundRect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9" name="Straight Arrow Connector 28"/>
          <p:cNvCxnSpPr>
            <a:stCxn id="21" idx="2"/>
            <a:endCxn id="22" idx="0"/>
          </p:cNvCxnSpPr>
          <p:nvPr/>
        </p:nvCxnSpPr>
        <p:spPr>
          <a:xfrm flipH="1">
            <a:off x="7588039" y="2549174"/>
            <a:ext cx="7938" cy="292451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8" idx="0"/>
          </p:cNvCxnSpPr>
          <p:nvPr/>
        </p:nvCxnSpPr>
        <p:spPr>
          <a:xfrm>
            <a:off x="7588039" y="3424064"/>
            <a:ext cx="21676" cy="503220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2"/>
            <a:endCxn id="25" idx="0"/>
          </p:cNvCxnSpPr>
          <p:nvPr/>
        </p:nvCxnSpPr>
        <p:spPr>
          <a:xfrm>
            <a:off x="7609715" y="4762500"/>
            <a:ext cx="27261" cy="332236"/>
          </a:xfrm>
          <a:prstGeom prst="straightConnector1">
            <a:avLst/>
          </a:prstGeom>
          <a:ln w="57150" cmpd="sng">
            <a:solidFill>
              <a:srgbClr val="00009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682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7" y="1600200"/>
            <a:ext cx="8399385" cy="449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Dataset</a:t>
            </a:r>
          </a:p>
          <a:p>
            <a:pPr lvl="1"/>
            <a:r>
              <a:rPr lang="en-US" b="1" dirty="0" smtClean="0"/>
              <a:t>Customer care calls</a:t>
            </a:r>
            <a:r>
              <a:rPr lang="en-US" dirty="0" smtClean="0"/>
              <a:t>: data </a:t>
            </a:r>
            <a:r>
              <a:rPr lang="en-US" dirty="0"/>
              <a:t>from a large </a:t>
            </a:r>
            <a:r>
              <a:rPr lang="en-US" dirty="0" smtClean="0"/>
              <a:t>network service </a:t>
            </a:r>
            <a:r>
              <a:rPr lang="en-US" dirty="0"/>
              <a:t>provider in the </a:t>
            </a:r>
            <a:r>
              <a:rPr lang="en-US" dirty="0" smtClean="0"/>
              <a:t>US during </a:t>
            </a:r>
            <a:r>
              <a:rPr lang="en-US" b="1" dirty="0"/>
              <a:t>Aug. </a:t>
            </a:r>
            <a:r>
              <a:rPr lang="en-US" b="1" dirty="0" smtClean="0"/>
              <a:t>2010~ </a:t>
            </a:r>
            <a:r>
              <a:rPr lang="en-US" b="1" dirty="0"/>
              <a:t>July </a:t>
            </a:r>
            <a:r>
              <a:rPr lang="en-US" b="1" dirty="0" smtClean="0"/>
              <a:t>2011</a:t>
            </a:r>
            <a:r>
              <a:rPr lang="en-US" dirty="0" smtClean="0"/>
              <a:t> </a:t>
            </a:r>
          </a:p>
          <a:p>
            <a:pPr lvl="1"/>
            <a:r>
              <a:rPr lang="en-US" b="1" dirty="0" smtClean="0"/>
              <a:t>Ground-truth </a:t>
            </a:r>
            <a:r>
              <a:rPr lang="en-US" b="1" dirty="0" smtClean="0"/>
              <a:t>anomalies</a:t>
            </a:r>
            <a:r>
              <a:rPr lang="en-US" dirty="0" smtClean="0"/>
              <a:t>: </a:t>
            </a:r>
            <a:r>
              <a:rPr lang="en-US" dirty="0" smtClean="0"/>
              <a:t>all </a:t>
            </a:r>
            <a:r>
              <a:rPr lang="en-US" dirty="0" smtClean="0"/>
              <a:t>anomalies </a:t>
            </a:r>
            <a:r>
              <a:rPr lang="en-US" dirty="0" smtClean="0"/>
              <a:t>reported by Call Centers, Network Operation Centers, and etc.</a:t>
            </a:r>
          </a:p>
          <a:p>
            <a:r>
              <a:rPr lang="en-US" b="1" dirty="0" smtClean="0"/>
              <a:t>Metrics</a:t>
            </a:r>
          </a:p>
          <a:p>
            <a:pPr lvl="1"/>
            <a:r>
              <a:rPr lang="en-US" b="1" dirty="0" smtClean="0"/>
              <a:t>Precision</a:t>
            </a:r>
            <a:r>
              <a:rPr lang="en-US" dirty="0" smtClean="0"/>
              <a:t>: the </a:t>
            </a:r>
            <a:r>
              <a:rPr lang="en-US" dirty="0"/>
              <a:t>fraction of claimed anomalies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which </a:t>
            </a:r>
            <a:r>
              <a:rPr lang="en-US" dirty="0" smtClean="0">
                <a:solidFill>
                  <a:srgbClr val="000000"/>
                </a:solidFill>
              </a:rPr>
              <a:t>are real anomalies</a:t>
            </a:r>
          </a:p>
          <a:p>
            <a:pPr lvl="1"/>
            <a:r>
              <a:rPr lang="en-US" b="1" dirty="0" smtClean="0"/>
              <a:t>Recall</a:t>
            </a:r>
            <a:r>
              <a:rPr lang="en-US" dirty="0" smtClean="0"/>
              <a:t>: the </a:t>
            </a:r>
            <a:r>
              <a:rPr lang="en-US" dirty="0"/>
              <a:t>fraction o</a:t>
            </a:r>
            <a:r>
              <a:rPr lang="en-US" dirty="0">
                <a:solidFill>
                  <a:srgbClr val="000000"/>
                </a:solidFill>
              </a:rPr>
              <a:t>f real anomalies are </a:t>
            </a:r>
            <a:r>
              <a:rPr lang="en-US" dirty="0" smtClean="0">
                <a:solidFill>
                  <a:srgbClr val="000000"/>
                </a:solidFill>
              </a:rPr>
              <a:t>claimed 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b="1" dirty="0" smtClean="0"/>
              <a:t>F-score</a:t>
            </a:r>
            <a:r>
              <a:rPr lang="en-US" dirty="0" smtClean="0"/>
              <a:t>: the </a:t>
            </a:r>
            <a:r>
              <a:rPr lang="en-US" dirty="0"/>
              <a:t>harmonic mean of </a:t>
            </a:r>
            <a:r>
              <a:rPr lang="en-US" dirty="0">
                <a:solidFill>
                  <a:srgbClr val="0000FF"/>
                </a:solidFill>
              </a:rPr>
              <a:t>precision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recall </a:t>
            </a:r>
            <a:endParaRPr lang="en-US" dirty="0" smtClean="0">
              <a:solidFill>
                <a:srgbClr val="0000FF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32648" y="6556081"/>
            <a:ext cx="533400" cy="228601"/>
          </a:xfrm>
        </p:spPr>
        <p:txBody>
          <a:bodyPr/>
          <a:lstStyle/>
          <a:p>
            <a:fld id="{DCA8BAC4-C7C6-7E41-A382-BF3EA00366E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033" y="3946866"/>
            <a:ext cx="979967" cy="723309"/>
          </a:xfrm>
          <a:prstGeom prst="rect">
            <a:avLst/>
          </a:prstGeom>
        </p:spPr>
      </p:pic>
      <p:pic>
        <p:nvPicPr>
          <p:cNvPr id="7" name="Picture 6" descr="CodeCogsEqn (10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324" y="4792567"/>
            <a:ext cx="1003300" cy="723309"/>
          </a:xfrm>
          <a:prstGeom prst="rect">
            <a:avLst/>
          </a:prstGeom>
        </p:spPr>
      </p:pic>
      <p:pic>
        <p:nvPicPr>
          <p:cNvPr id="8" name="Picture 7" descr="CodeCogsEqn (1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4" y="5685085"/>
            <a:ext cx="1981200" cy="77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9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Identifying Important Features</a:t>
            </a:r>
            <a:endParaRPr lang="en-US" dirty="0"/>
          </a:p>
        </p:txBody>
      </p:sp>
      <p:pic>
        <p:nvPicPr>
          <p:cNvPr id="16" name="Picture 15" descr="CodeCogsEqn (10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7" name="Picture 16" descr="CodeCogsEqn (11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8" name="Picture 17" descr="CodeCogsEqn (1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02500" y="2524125"/>
            <a:ext cx="1714500" cy="160337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36293"/>
              </p:ext>
            </p:extLst>
          </p:nvPr>
        </p:nvGraphicFramePr>
        <p:xfrm>
          <a:off x="0" y="1519926"/>
          <a:ext cx="9144000" cy="4330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Rectangle 2"/>
          <p:cNvSpPr/>
          <p:nvPr/>
        </p:nvSpPr>
        <p:spPr>
          <a:xfrm>
            <a:off x="7302500" y="2662113"/>
            <a:ext cx="1714500" cy="15299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4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Identifying Important Features</a:t>
            </a:r>
            <a:endParaRPr lang="en-US" dirty="0"/>
          </a:p>
        </p:txBody>
      </p:sp>
      <p:pic>
        <p:nvPicPr>
          <p:cNvPr id="16" name="Picture 15" descr="CodeCogsEqn (10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7" name="Picture 16" descr="CodeCogsEqn (11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8" name="Picture 17" descr="CodeCogsEqn (1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02500" y="2524125"/>
            <a:ext cx="1714500" cy="160337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230676"/>
              </p:ext>
            </p:extLst>
          </p:nvPr>
        </p:nvGraphicFramePr>
        <p:xfrm>
          <a:off x="0" y="1504626"/>
          <a:ext cx="9144000" cy="4330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Rectangle 8"/>
          <p:cNvSpPr/>
          <p:nvPr/>
        </p:nvSpPr>
        <p:spPr>
          <a:xfrm>
            <a:off x="7302500" y="2184469"/>
            <a:ext cx="1714500" cy="15299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837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Identifying Important Features</a:t>
            </a:r>
            <a:endParaRPr lang="en-US" dirty="0"/>
          </a:p>
        </p:txBody>
      </p:sp>
      <p:pic>
        <p:nvPicPr>
          <p:cNvPr id="16" name="Picture 15" descr="CodeCogsEqn (10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7" name="Picture 16" descr="CodeCogsEqn (11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8" name="Picture 17" descr="CodeCogsEqn (1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02500" y="2524125"/>
            <a:ext cx="1714500" cy="160337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040753"/>
              </p:ext>
            </p:extLst>
          </p:nvPr>
        </p:nvGraphicFramePr>
        <p:xfrm>
          <a:off x="0" y="1504626"/>
          <a:ext cx="9144000" cy="4330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Rectangle 8"/>
          <p:cNvSpPr/>
          <p:nvPr/>
        </p:nvSpPr>
        <p:spPr>
          <a:xfrm>
            <a:off x="7302500" y="1756083"/>
            <a:ext cx="1714500" cy="15299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837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Identifying Important Features</a:t>
            </a:r>
            <a:endParaRPr lang="en-US" dirty="0"/>
          </a:p>
        </p:txBody>
      </p:sp>
      <p:pic>
        <p:nvPicPr>
          <p:cNvPr id="16" name="Picture 15" descr="CodeCogsEqn (10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7" name="Picture 16" descr="CodeCogsEqn (11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8" name="Picture 17" descr="CodeCogsEqn (12)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02500" y="2524125"/>
            <a:ext cx="1714500" cy="160337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4873527"/>
              </p:ext>
            </p:extLst>
          </p:nvPr>
        </p:nvGraphicFramePr>
        <p:xfrm>
          <a:off x="0" y="1493075"/>
          <a:ext cx="9144000" cy="4330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0423" y="5824047"/>
            <a:ext cx="6442077" cy="968375"/>
          </a:xfrm>
          <a:prstGeom prst="roundRect">
            <a:avLst/>
          </a:prstGeom>
          <a:gradFill flip="none" rotWithShape="1">
            <a:gsLst>
              <a:gs pos="100000">
                <a:srgbClr val="E9FFEA"/>
              </a:gs>
              <a:gs pos="0">
                <a:srgbClr val="CCFFCC"/>
              </a:gs>
              <a:gs pos="35000">
                <a:srgbClr val="DBFFD6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L</a:t>
            </a:r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r>
              <a:rPr lang="en-US" sz="2800" b="1" dirty="0" smtClean="0">
                <a:solidFill>
                  <a:srgbClr val="FF0000"/>
                </a:solidFill>
              </a:rPr>
              <a:t>-norm </a:t>
            </a:r>
            <a:r>
              <a:rPr lang="en-US" sz="2800" dirty="0" smtClean="0">
                <a:solidFill>
                  <a:srgbClr val="000000"/>
                </a:solidFill>
              </a:rPr>
              <a:t>out-performs </a:t>
            </a:r>
            <a:r>
              <a:rPr lang="en-US" sz="2800" b="1" dirty="0" smtClean="0">
                <a:solidFill>
                  <a:srgbClr val="000000"/>
                </a:solidFill>
              </a:rPr>
              <a:t>rand 2000</a:t>
            </a:r>
            <a:r>
              <a:rPr lang="en-US" sz="2800" dirty="0" smtClean="0">
                <a:solidFill>
                  <a:srgbClr val="000000"/>
                </a:solidFill>
              </a:rPr>
              <a:t>, </a:t>
            </a:r>
            <a:r>
              <a:rPr lang="en-US" sz="2800" b="1" dirty="0" smtClean="0">
                <a:solidFill>
                  <a:srgbClr val="000000"/>
                </a:solidFill>
              </a:rPr>
              <a:t>PCA</a:t>
            </a:r>
            <a:r>
              <a:rPr lang="en-US" sz="2800" dirty="0" smtClean="0">
                <a:solidFill>
                  <a:srgbClr val="000000"/>
                </a:solidFill>
              </a:rPr>
              <a:t>, and </a:t>
            </a:r>
            <a:r>
              <a:rPr lang="en-US" sz="2800" b="1" dirty="0" smtClean="0">
                <a:solidFill>
                  <a:srgbClr val="000000"/>
                </a:solidFill>
              </a:rPr>
              <a:t>L2</a:t>
            </a:r>
            <a:r>
              <a:rPr lang="en-US" sz="2800" b="1" dirty="0">
                <a:solidFill>
                  <a:srgbClr val="000000"/>
                </a:solidFill>
              </a:rPr>
              <a:t>-norm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by </a:t>
            </a:r>
            <a:r>
              <a:rPr lang="en-US" sz="2800" b="1" dirty="0" smtClean="0">
                <a:solidFill>
                  <a:srgbClr val="000000"/>
                </a:solidFill>
              </a:rPr>
              <a:t>454%</a:t>
            </a:r>
            <a:r>
              <a:rPr lang="en-US" sz="2800" dirty="0" smtClean="0">
                <a:solidFill>
                  <a:srgbClr val="000000"/>
                </a:solidFill>
              </a:rPr>
              <a:t>, </a:t>
            </a:r>
            <a:r>
              <a:rPr lang="en-US" sz="2800" b="1" dirty="0">
                <a:solidFill>
                  <a:srgbClr val="000000"/>
                </a:solidFill>
              </a:rPr>
              <a:t>32</a:t>
            </a:r>
            <a:r>
              <a:rPr lang="en-US" sz="2800" b="1" dirty="0" smtClean="0">
                <a:solidFill>
                  <a:srgbClr val="000000"/>
                </a:solidFill>
              </a:rPr>
              <a:t>%</a:t>
            </a:r>
            <a:r>
              <a:rPr lang="en-US" sz="2800" dirty="0" smtClean="0">
                <a:solidFill>
                  <a:srgbClr val="000000"/>
                </a:solidFill>
              </a:rPr>
              <a:t>, and </a:t>
            </a:r>
            <a:r>
              <a:rPr lang="en-US" sz="2800" b="1" dirty="0">
                <a:solidFill>
                  <a:srgbClr val="000000"/>
                </a:solidFill>
              </a:rPr>
              <a:t>10</a:t>
            </a:r>
            <a:r>
              <a:rPr lang="en-US" sz="2800" b="1" dirty="0" smtClean="0">
                <a:solidFill>
                  <a:srgbClr val="000000"/>
                </a:solidFill>
              </a:rPr>
              <a:t>%</a:t>
            </a:r>
            <a:endParaRPr lang="en-US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92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– Regression</a:t>
            </a:r>
            <a:endParaRPr lang="en-US" dirty="0"/>
          </a:p>
        </p:txBody>
      </p:sp>
      <p:pic>
        <p:nvPicPr>
          <p:cNvPr id="8" name="Picture 7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9" name="Picture 8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0" name="Picture 9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613724"/>
              </p:ext>
            </p:extLst>
          </p:nvPr>
        </p:nvGraphicFramePr>
        <p:xfrm>
          <a:off x="0" y="1502100"/>
          <a:ext cx="9141718" cy="432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7032625" y="2008978"/>
            <a:ext cx="1984375" cy="193674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86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– Regression</a:t>
            </a:r>
            <a:endParaRPr lang="en-US" dirty="0"/>
          </a:p>
        </p:txBody>
      </p:sp>
      <p:pic>
        <p:nvPicPr>
          <p:cNvPr id="8" name="Picture 7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9" name="Picture 8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0" name="Picture 9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9975774"/>
              </p:ext>
            </p:extLst>
          </p:nvPr>
        </p:nvGraphicFramePr>
        <p:xfrm>
          <a:off x="2282" y="1489512"/>
          <a:ext cx="9141718" cy="432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7034907" y="1595317"/>
            <a:ext cx="1984375" cy="193674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98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– Regression</a:t>
            </a:r>
            <a:endParaRPr lang="en-US" dirty="0"/>
          </a:p>
        </p:txBody>
      </p:sp>
      <p:pic>
        <p:nvPicPr>
          <p:cNvPr id="8" name="Picture 7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9" name="Picture 8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0" name="Picture 9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833265"/>
              </p:ext>
            </p:extLst>
          </p:nvPr>
        </p:nvGraphicFramePr>
        <p:xfrm>
          <a:off x="0" y="1502602"/>
          <a:ext cx="9141718" cy="432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103312" y="5832493"/>
            <a:ext cx="6619875" cy="968375"/>
          </a:xfrm>
          <a:prstGeom prst="roundRect">
            <a:avLst/>
          </a:prstGeom>
          <a:gradFill flip="none" rotWithShape="1">
            <a:gsLst>
              <a:gs pos="100000">
                <a:srgbClr val="E9FFEA"/>
              </a:gs>
              <a:gs pos="0">
                <a:srgbClr val="CCFFCC"/>
              </a:gs>
              <a:gs pos="35000">
                <a:srgbClr val="DBFFD6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Fit+Temp+LR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out-performs </a:t>
            </a:r>
            <a:r>
              <a:rPr lang="en-US" sz="2800" b="1" dirty="0" smtClean="0">
                <a:solidFill>
                  <a:schemeClr val="tx1"/>
                </a:solidFill>
              </a:rPr>
              <a:t>Random </a:t>
            </a:r>
            <a:r>
              <a:rPr lang="en-US" sz="2800" dirty="0" smtClean="0">
                <a:solidFill>
                  <a:schemeClr val="tx1"/>
                </a:solidFill>
              </a:rPr>
              <a:t>and</a:t>
            </a:r>
            <a:r>
              <a:rPr lang="en-US" sz="2800" b="1" dirty="0" smtClean="0">
                <a:solidFill>
                  <a:schemeClr val="tx1"/>
                </a:solidFill>
              </a:rPr>
              <a:t> Fit</a:t>
            </a:r>
            <a:r>
              <a:rPr lang="en-US" sz="2800" dirty="0" smtClean="0">
                <a:solidFill>
                  <a:schemeClr val="tx1"/>
                </a:solidFill>
              </a:rPr>
              <a:t> by </a:t>
            </a:r>
            <a:r>
              <a:rPr lang="en-US" sz="2800" b="1" dirty="0" smtClean="0">
                <a:solidFill>
                  <a:schemeClr val="tx1"/>
                </a:solidFill>
              </a:rPr>
              <a:t>823%</a:t>
            </a:r>
            <a:r>
              <a:rPr lang="en-US" sz="2800" dirty="0" smtClean="0">
                <a:solidFill>
                  <a:schemeClr val="tx1"/>
                </a:solidFill>
              </a:rPr>
              <a:t> and </a:t>
            </a:r>
            <a:r>
              <a:rPr lang="en-US" sz="2800" b="1" dirty="0" smtClean="0">
                <a:solidFill>
                  <a:schemeClr val="tx1"/>
                </a:solidFill>
              </a:rPr>
              <a:t>64%</a:t>
            </a:r>
          </a:p>
        </p:txBody>
      </p:sp>
    </p:spTree>
    <p:extLst>
      <p:ext uri="{BB962C8B-B14F-4D97-AF65-F5344CB8AC3E}">
        <p14:creationId xmlns:p14="http://schemas.microsoft.com/office/powerpoint/2010/main" val="979098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Number of Classifiers</a:t>
            </a:r>
            <a:endParaRPr lang="en-US" dirty="0"/>
          </a:p>
        </p:txBody>
      </p:sp>
      <p:pic>
        <p:nvPicPr>
          <p:cNvPr id="9" name="Picture 8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0" name="Picture 9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1" name="Picture 10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931066"/>
              </p:ext>
            </p:extLst>
          </p:nvPr>
        </p:nvGraphicFramePr>
        <p:xfrm>
          <a:off x="0" y="1470019"/>
          <a:ext cx="8345722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7543673" y="2247894"/>
            <a:ext cx="1222375" cy="196849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4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Number of Classifiers</a:t>
            </a:r>
            <a:endParaRPr lang="en-US" dirty="0"/>
          </a:p>
        </p:txBody>
      </p:sp>
      <p:pic>
        <p:nvPicPr>
          <p:cNvPr id="9" name="Picture 8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0" name="Picture 9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1" name="Picture 10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3670925"/>
              </p:ext>
            </p:extLst>
          </p:nvPr>
        </p:nvGraphicFramePr>
        <p:xfrm>
          <a:off x="0" y="1451533"/>
          <a:ext cx="8345722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7588250" y="2322358"/>
            <a:ext cx="1428750" cy="101599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11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Evaluation –</a:t>
            </a:r>
            <a:br>
              <a:rPr lang="en-US" dirty="0" smtClean="0"/>
            </a:br>
            <a:r>
              <a:rPr lang="en-US" dirty="0" smtClean="0"/>
              <a:t>Number of Classifiers</a:t>
            </a:r>
            <a:endParaRPr lang="en-US" dirty="0"/>
          </a:p>
        </p:txBody>
      </p:sp>
      <p:pic>
        <p:nvPicPr>
          <p:cNvPr id="9" name="Picture 8" descr="CodeCogsEqn (10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6134691"/>
            <a:ext cx="1003300" cy="723309"/>
          </a:xfrm>
          <a:prstGeom prst="rect">
            <a:avLst/>
          </a:prstGeom>
        </p:spPr>
      </p:pic>
      <p:pic>
        <p:nvPicPr>
          <p:cNvPr id="10" name="Picture 9" descr="CodeCogsEqn (11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6134690"/>
            <a:ext cx="979967" cy="723309"/>
          </a:xfrm>
          <a:prstGeom prst="rect">
            <a:avLst/>
          </a:prstGeom>
        </p:spPr>
      </p:pic>
      <p:pic>
        <p:nvPicPr>
          <p:cNvPr id="11" name="Picture 10" descr="CodeCogsEqn (12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1" y="6069161"/>
            <a:ext cx="1981200" cy="7761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440108"/>
              </p:ext>
            </p:extLst>
          </p:nvPr>
        </p:nvGraphicFramePr>
        <p:xfrm>
          <a:off x="0" y="1466832"/>
          <a:ext cx="8345722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2514" y="5897685"/>
            <a:ext cx="7726785" cy="901719"/>
          </a:xfrm>
          <a:prstGeom prst="roundRect">
            <a:avLst/>
          </a:prstGeom>
          <a:gradFill flip="none" rotWithShape="1">
            <a:gsLst>
              <a:gs pos="100000">
                <a:srgbClr val="E9FFEA"/>
              </a:gs>
              <a:gs pos="0">
                <a:srgbClr val="CCFFCC"/>
              </a:gs>
              <a:gs pos="35000">
                <a:srgbClr val="DBFFD6"/>
              </a:gs>
            </a:gsLst>
            <a:lin ang="16200000" scaled="0"/>
            <a:tileRect/>
          </a:gradFill>
          <a:ln>
            <a:solidFill>
              <a:srgbClr val="7FAB4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FF0000"/>
                </a:solidFill>
              </a:rPr>
              <a:t>30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classifiers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to </a:t>
            </a:r>
            <a:r>
              <a:rPr lang="en-US" sz="2800" dirty="0"/>
              <a:t>trade off the </a:t>
            </a:r>
            <a:r>
              <a:rPr lang="en-US" sz="2800" b="1" dirty="0"/>
              <a:t>benefit</a:t>
            </a:r>
            <a:r>
              <a:rPr lang="en-US" sz="2800" dirty="0"/>
              <a:t> and </a:t>
            </a:r>
            <a:r>
              <a:rPr lang="en-US" sz="2800" b="1" dirty="0"/>
              <a:t>cost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2811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09601" y="6248206"/>
            <a:ext cx="5486400" cy="365125"/>
          </a:xfrm>
        </p:spPr>
        <p:txBody>
          <a:bodyPr/>
          <a:lstStyle/>
          <a:p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Propose to use </a:t>
            </a:r>
            <a:r>
              <a:rPr lang="en-US" b="1" dirty="0"/>
              <a:t>customer care calls </a:t>
            </a:r>
            <a:r>
              <a:rPr lang="en-US" dirty="0"/>
              <a:t>as a complementary source to network metrics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 direct measurement of </a:t>
            </a:r>
            <a:r>
              <a:rPr lang="en-US" dirty="0" err="1" smtClean="0"/>
              <a:t>QoE</a:t>
            </a:r>
            <a:r>
              <a:rPr lang="en-US" b="1" dirty="0" smtClean="0"/>
              <a:t> </a:t>
            </a:r>
            <a:r>
              <a:rPr lang="en-US" dirty="0"/>
              <a:t>perceived by </a:t>
            </a:r>
            <a:r>
              <a:rPr lang="en-US" dirty="0" smtClean="0"/>
              <a:t>customers</a:t>
            </a:r>
          </a:p>
          <a:p>
            <a:r>
              <a:rPr lang="en-US" dirty="0" smtClean="0"/>
              <a:t>Develop </a:t>
            </a:r>
            <a:r>
              <a:rPr lang="en-US" dirty="0"/>
              <a:t>a systematic method to automatically detect </a:t>
            </a:r>
            <a:r>
              <a:rPr lang="en-US" b="1" dirty="0" smtClean="0"/>
              <a:t>events</a:t>
            </a:r>
            <a:r>
              <a:rPr lang="en-US" dirty="0" smtClean="0"/>
              <a:t> using </a:t>
            </a:r>
            <a:r>
              <a:rPr lang="en-US" b="1" dirty="0" smtClean="0"/>
              <a:t>customer </a:t>
            </a:r>
            <a:r>
              <a:rPr lang="en-US" b="1" dirty="0"/>
              <a:t>care </a:t>
            </a:r>
            <a:r>
              <a:rPr lang="en-US" b="1" dirty="0" smtClean="0"/>
              <a:t>calls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Scale </a:t>
            </a:r>
            <a:r>
              <a:rPr lang="en-US" dirty="0"/>
              <a:t>to a large number of features </a:t>
            </a:r>
            <a:endParaRPr lang="en-US" dirty="0" smtClean="0"/>
          </a:p>
          <a:p>
            <a:pPr lvl="1"/>
            <a:r>
              <a:rPr lang="en-US" dirty="0" smtClean="0"/>
              <a:t>Robust </a:t>
            </a:r>
            <a:r>
              <a:rPr lang="en-US" dirty="0"/>
              <a:t>to </a:t>
            </a:r>
            <a:r>
              <a:rPr lang="en-US" dirty="0" smtClean="0"/>
              <a:t>the noise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361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2065922"/>
            <a:ext cx="8763000" cy="1828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Thank You!</a:t>
            </a:r>
            <a:endParaRPr lang="en-US" sz="5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b="1" dirty="0" smtClean="0">
                <a:latin typeface="Tw Cen MT"/>
              </a:rPr>
              <a:t>IEEE INFOCOM 2013</a:t>
            </a:r>
            <a:endParaRPr lang="en-US" b="1" dirty="0">
              <a:latin typeface="Tw Cen M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646947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3932245" y="5224027"/>
            <a:ext cx="5211755" cy="6413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latinLnBrk="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32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latinLnBrk="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latinLnBrk="0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latinLnBrk="0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latinLnBrk="0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latinLnBrk="0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latinLnBrk="0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latinLnBrk="0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latinLnBrk="0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buFont typeface="Wingdings"/>
              <a:buNone/>
            </a:pPr>
            <a:r>
              <a:rPr lang="en-US" sz="36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yichao@cs.utexas.edu</a:t>
            </a:r>
            <a:endParaRPr lang="en-US" sz="36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5723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54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5026"/>
            <a:ext cx="9144000" cy="747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32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Twitter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Leverage </a:t>
            </a:r>
            <a:r>
              <a:rPr lang="en-US" b="1" dirty="0" smtClean="0"/>
              <a:t>Twitter</a:t>
            </a:r>
            <a:r>
              <a:rPr lang="en-US" dirty="0" smtClean="0"/>
              <a:t> as external data</a:t>
            </a:r>
            <a:endParaRPr lang="en-US" dirty="0"/>
          </a:p>
          <a:p>
            <a:pPr lvl="1"/>
            <a:r>
              <a:rPr lang="en-US" dirty="0" smtClean="0"/>
              <a:t>Additional features</a:t>
            </a:r>
          </a:p>
          <a:p>
            <a:pPr lvl="1"/>
            <a:r>
              <a:rPr lang="en-US" dirty="0" smtClean="0"/>
              <a:t>Interpreting detected anomalies</a:t>
            </a:r>
          </a:p>
          <a:p>
            <a:r>
              <a:rPr lang="en-US" dirty="0" smtClean="0"/>
              <a:t>Information from a tweet</a:t>
            </a:r>
          </a:p>
          <a:p>
            <a:pPr lvl="1"/>
            <a:r>
              <a:rPr lang="en-US" dirty="0" smtClean="0"/>
              <a:t>Timestamp</a:t>
            </a:r>
          </a:p>
          <a:p>
            <a:pPr lvl="1"/>
            <a:r>
              <a:rPr lang="en-US" dirty="0" smtClean="0"/>
              <a:t>Text</a:t>
            </a:r>
          </a:p>
          <a:p>
            <a:pPr lvl="2"/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Term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Frequency - Inverse Document Frequency (TF-IDF)</a:t>
            </a:r>
            <a:endParaRPr lang="en-US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dirty="0" err="1" smtClean="0"/>
              <a:t>Hashtags</a:t>
            </a:r>
            <a:r>
              <a:rPr lang="en-US" dirty="0"/>
              <a:t>: keyword of the topics</a:t>
            </a:r>
          </a:p>
          <a:p>
            <a:pPr lvl="2"/>
            <a:r>
              <a:rPr lang="en-US" dirty="0" smtClean="0">
                <a:solidFill>
                  <a:srgbClr val="7B3D17"/>
                </a:solidFill>
              </a:rPr>
              <a:t>Used as features</a:t>
            </a:r>
          </a:p>
          <a:p>
            <a:pPr lvl="2"/>
            <a:r>
              <a:rPr lang="en-US" i="1" dirty="0" smtClean="0">
                <a:solidFill>
                  <a:srgbClr val="7B3D17"/>
                </a:solidFill>
              </a:rPr>
              <a:t>e.g.</a:t>
            </a:r>
            <a:r>
              <a:rPr lang="en-US" dirty="0" smtClean="0">
                <a:solidFill>
                  <a:srgbClr val="7B3D17"/>
                </a:solidFill>
              </a:rPr>
              <a:t> #ATTFAIL</a:t>
            </a:r>
          </a:p>
          <a:p>
            <a:pPr lvl="1"/>
            <a:r>
              <a:rPr lang="en-US" dirty="0" smtClean="0"/>
              <a:t>Location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642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Interpreting Anomaly - Location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5107"/>
            <a:ext cx="9144000" cy="476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89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the Anomaly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>
                <a:solidFill>
                  <a:srgbClr val="7B3D17"/>
                </a:solidFill>
              </a:rPr>
              <a:t>3G network outage</a:t>
            </a:r>
          </a:p>
          <a:p>
            <a:pPr lvl="2"/>
            <a:r>
              <a:rPr lang="en-US" b="1" dirty="0" smtClean="0"/>
              <a:t>Location:</a:t>
            </a:r>
            <a:r>
              <a:rPr lang="en-US" dirty="0" smtClean="0"/>
              <a:t> New York, NY</a:t>
            </a:r>
          </a:p>
          <a:p>
            <a:pPr lvl="2"/>
            <a:r>
              <a:rPr lang="en-US" b="1" dirty="0" smtClean="0"/>
              <a:t>Event Summary:</a:t>
            </a:r>
            <a:r>
              <a:rPr lang="en-US" dirty="0" smtClean="0"/>
              <a:t> service, outage, </a:t>
            </a:r>
            <a:r>
              <a:rPr lang="en-US" dirty="0" err="1" smtClean="0"/>
              <a:t>nyc</a:t>
            </a:r>
            <a:r>
              <a:rPr lang="en-US" dirty="0" smtClean="0"/>
              <a:t>, calls, </a:t>
            </a:r>
            <a:r>
              <a:rPr lang="en-US" dirty="0" err="1" smtClean="0"/>
              <a:t>ny</a:t>
            </a:r>
            <a:r>
              <a:rPr lang="en-US" dirty="0" smtClean="0"/>
              <a:t>, morning, service</a:t>
            </a:r>
          </a:p>
          <a:p>
            <a:pPr lvl="1"/>
            <a:r>
              <a:rPr lang="en-US" dirty="0" smtClean="0">
                <a:solidFill>
                  <a:srgbClr val="7B3D17"/>
                </a:solidFill>
              </a:rPr>
              <a:t>Outage due to an earthquake</a:t>
            </a:r>
          </a:p>
          <a:p>
            <a:pPr lvl="2"/>
            <a:r>
              <a:rPr lang="en-US" b="1" dirty="0" smtClean="0"/>
              <a:t>Location: </a:t>
            </a:r>
            <a:r>
              <a:rPr lang="en-US" dirty="0" smtClean="0"/>
              <a:t>East Coast</a:t>
            </a:r>
          </a:p>
          <a:p>
            <a:pPr lvl="2"/>
            <a:r>
              <a:rPr lang="en-US" b="1" dirty="0" smtClean="0"/>
              <a:t>Event Summary</a:t>
            </a:r>
            <a:r>
              <a:rPr lang="en-US" b="1" dirty="0"/>
              <a:t>:</a:t>
            </a:r>
            <a:r>
              <a:rPr lang="en-US" dirty="0"/>
              <a:t> #earthquake, working, wireless, service, </a:t>
            </a:r>
            <a:r>
              <a:rPr lang="en-US" dirty="0" err="1"/>
              <a:t>nyc</a:t>
            </a:r>
            <a:r>
              <a:rPr lang="en-US" dirty="0"/>
              <a:t>, apparently, new, </a:t>
            </a:r>
            <a:r>
              <a:rPr lang="en-US" dirty="0" smtClean="0"/>
              <a:t>york</a:t>
            </a:r>
          </a:p>
          <a:p>
            <a:pPr lvl="1"/>
            <a:r>
              <a:rPr lang="pt-BR" dirty="0">
                <a:solidFill>
                  <a:srgbClr val="7B3D17"/>
                </a:solidFill>
              </a:rPr>
              <a:t>Internet </a:t>
            </a:r>
            <a:r>
              <a:rPr lang="pt-BR" dirty="0" err="1">
                <a:solidFill>
                  <a:srgbClr val="7B3D17"/>
                </a:solidFill>
              </a:rPr>
              <a:t>service</a:t>
            </a:r>
            <a:r>
              <a:rPr lang="pt-BR" dirty="0">
                <a:solidFill>
                  <a:srgbClr val="7B3D17"/>
                </a:solidFill>
              </a:rPr>
              <a:t> </a:t>
            </a:r>
            <a:r>
              <a:rPr lang="pt-BR" dirty="0" err="1" smtClean="0">
                <a:solidFill>
                  <a:srgbClr val="7B3D17"/>
                </a:solidFill>
              </a:rPr>
              <a:t>outage</a:t>
            </a:r>
            <a:endParaRPr lang="pt-BR" dirty="0" smtClean="0">
              <a:solidFill>
                <a:srgbClr val="7B3D17"/>
              </a:solidFill>
            </a:endParaRPr>
          </a:p>
          <a:p>
            <a:pPr lvl="2"/>
            <a:r>
              <a:rPr lang="en-US" b="1" dirty="0"/>
              <a:t>Location: </a:t>
            </a:r>
            <a:r>
              <a:rPr lang="en-US" dirty="0"/>
              <a:t>Bay Area</a:t>
            </a:r>
          </a:p>
          <a:p>
            <a:pPr lvl="2"/>
            <a:r>
              <a:rPr lang="en-US" b="1" dirty="0"/>
              <a:t>Event Summary:</a:t>
            </a:r>
            <a:r>
              <a:rPr lang="en-US" dirty="0"/>
              <a:t> </a:t>
            </a:r>
            <a:r>
              <a:rPr lang="en-US" dirty="0" err="1"/>
              <a:t>serviceU</a:t>
            </a:r>
            <a:r>
              <a:rPr lang="en-US" dirty="0"/>
              <a:t>, bay, outage, service, Internet, area, support, #fail </a:t>
            </a:r>
          </a:p>
        </p:txBody>
      </p:sp>
    </p:spTree>
    <p:extLst>
      <p:ext uri="{BB962C8B-B14F-4D97-AF65-F5344CB8AC3E}">
        <p14:creationId xmlns:p14="http://schemas.microsoft.com/office/powerpoint/2010/main" val="1250327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Select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_tradnl" dirty="0"/>
              <a:t>K-</a:t>
            </a:r>
            <a:r>
              <a:rPr lang="es-ES_tradnl" dirty="0" err="1"/>
              <a:t>fold</a:t>
            </a:r>
            <a:r>
              <a:rPr lang="es-ES_tradnl" dirty="0"/>
              <a:t> </a:t>
            </a:r>
            <a:r>
              <a:rPr lang="es-ES_tradnl" dirty="0" err="1"/>
              <a:t>cross-</a:t>
            </a:r>
            <a:r>
              <a:rPr lang="es-ES_tradnl" dirty="0" err="1" smtClean="0"/>
              <a:t>validation</a:t>
            </a:r>
            <a:endParaRPr lang="es-ES_tradnl" dirty="0" smtClean="0"/>
          </a:p>
          <a:p>
            <a:pPr lvl="1"/>
            <a:r>
              <a:rPr lang="en-US" dirty="0"/>
              <a:t>Partition the </a:t>
            </a:r>
            <a:r>
              <a:rPr lang="en-US" b="1" dirty="0"/>
              <a:t>training data </a:t>
            </a:r>
            <a:r>
              <a:rPr lang="en-US" dirty="0"/>
              <a:t>into </a:t>
            </a:r>
            <a:r>
              <a:rPr lang="en-US" b="1" dirty="0" smtClean="0"/>
              <a:t>K </a:t>
            </a:r>
            <a:r>
              <a:rPr lang="en-US" b="1" dirty="0"/>
              <a:t>equal size </a:t>
            </a:r>
            <a:r>
              <a:rPr lang="en-US" b="1" dirty="0" smtClean="0"/>
              <a:t>parts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i="1" dirty="0"/>
              <a:t>round </a:t>
            </a:r>
            <a:r>
              <a:rPr lang="en-US" i="1" dirty="0" err="1"/>
              <a:t>i</a:t>
            </a:r>
            <a:r>
              <a:rPr lang="en-US" dirty="0"/>
              <a:t>, use the </a:t>
            </a:r>
            <a:r>
              <a:rPr lang="en-US" i="1" dirty="0">
                <a:solidFill>
                  <a:srgbClr val="7B3D17"/>
                </a:solidFill>
              </a:rPr>
              <a:t>partition </a:t>
            </a:r>
            <a:r>
              <a:rPr lang="en-US" i="1" dirty="0" err="1">
                <a:solidFill>
                  <a:srgbClr val="7B3D17"/>
                </a:solidFill>
              </a:rPr>
              <a:t>i</a:t>
            </a:r>
            <a:r>
              <a:rPr lang="en-US" dirty="0"/>
              <a:t> for </a:t>
            </a:r>
            <a:r>
              <a:rPr lang="en-US" b="1" dirty="0"/>
              <a:t>training </a:t>
            </a:r>
            <a:r>
              <a:rPr lang="en-US" dirty="0"/>
              <a:t>and the </a:t>
            </a:r>
            <a:r>
              <a:rPr lang="en-US" dirty="0" smtClean="0"/>
              <a:t>remaining </a:t>
            </a:r>
            <a:r>
              <a:rPr lang="en-US" i="1" dirty="0">
                <a:solidFill>
                  <a:srgbClr val="7B3D17"/>
                </a:solidFill>
              </a:rPr>
              <a:t>k-1 partitions </a:t>
            </a:r>
            <a:r>
              <a:rPr lang="en-US" dirty="0"/>
              <a:t>for </a:t>
            </a:r>
            <a:r>
              <a:rPr lang="en-US" b="1" dirty="0"/>
              <a:t>testing</a:t>
            </a:r>
            <a:r>
              <a:rPr lang="en-US" dirty="0"/>
              <a:t>.</a:t>
            </a:r>
          </a:p>
          <a:p>
            <a:pPr lvl="2"/>
            <a:r>
              <a:rPr lang="en-US" dirty="0" smtClean="0"/>
              <a:t>The process is repeated k times.</a:t>
            </a:r>
          </a:p>
          <a:p>
            <a:pPr lvl="1"/>
            <a:r>
              <a:rPr lang="en-US" dirty="0" smtClean="0"/>
              <a:t>Average </a:t>
            </a:r>
            <a:r>
              <a:rPr lang="en-US" dirty="0"/>
              <a:t>k results as the evaluation of </a:t>
            </a:r>
            <a:r>
              <a:rPr lang="en-US" dirty="0" smtClean="0"/>
              <a:t>the selected </a:t>
            </a:r>
            <a:r>
              <a:rPr lang="en-US" dirty="0"/>
              <a:t>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400"/>
            <a:r>
              <a:rPr lang="en-US" smtClean="0">
                <a:solidFill>
                  <a:srgbClr val="775F55"/>
                </a:solidFill>
                <a:latin typeface="Tw Cen MT"/>
              </a:rPr>
              <a:t>INFOCOM 2013</a:t>
            </a:r>
            <a:endParaRPr lang="en-US" dirty="0">
              <a:solidFill>
                <a:srgbClr val="775F55"/>
              </a:solidFill>
              <a:latin typeface="Tw Cen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CA8BAC4-C7C6-7E41-A382-BF3EA00366E9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760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gradFill flip="none" rotWithShape="1">
          <a:gsLst>
            <a:gs pos="100000">
              <a:srgbClr val="E9FFEA"/>
            </a:gs>
            <a:gs pos="0">
              <a:srgbClr val="CCFFCC"/>
            </a:gs>
            <a:gs pos="35000">
              <a:srgbClr val="DBFFD6"/>
            </a:gs>
          </a:gsLst>
          <a:lin ang="16200000" scaled="0"/>
          <a:tileRect/>
        </a:gradFill>
        <a:ln>
          <a:solidFill>
            <a:srgbClr val="7FAB43"/>
          </a:solidFill>
        </a:ln>
      </a:spPr>
      <a:bodyPr rtlCol="0" anchor="ctr"/>
      <a:lstStyle>
        <a:defPPr algn="ctr">
          <a:defRPr sz="2800" dirty="0" smtClean="0">
            <a:solidFill>
              <a:srgbClr val="000000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13073</TotalTime>
  <Words>2314</Words>
  <Application>Microsoft Macintosh PowerPoint</Application>
  <PresentationFormat>On-screen Show (4:3)</PresentationFormat>
  <Paragraphs>409</Paragraphs>
  <Slides>42</Slides>
  <Notes>21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Median</vt:lpstr>
      <vt:lpstr>Event Detection using Customer Care Calls</vt:lpstr>
      <vt:lpstr>Motivation</vt:lpstr>
      <vt:lpstr>Motivation</vt:lpstr>
      <vt:lpstr>Problem Formulation</vt:lpstr>
      <vt:lpstr>Problem Formulation</vt:lpstr>
      <vt:lpstr>Example: Categories of Customer  Care Calls</vt:lpstr>
      <vt:lpstr>Input: Customer Care Calls</vt:lpstr>
      <vt:lpstr>Example: Anomaly</vt:lpstr>
      <vt:lpstr>Challenges</vt:lpstr>
      <vt:lpstr>Challenges</vt:lpstr>
      <vt:lpstr>Challenges</vt:lpstr>
      <vt:lpstr>Challenges</vt:lpstr>
      <vt:lpstr>Our Approach</vt:lpstr>
      <vt:lpstr>Our Approach</vt:lpstr>
      <vt:lpstr>Issues</vt:lpstr>
      <vt:lpstr>System Overview</vt:lpstr>
      <vt:lpstr>Clustering</vt:lpstr>
      <vt:lpstr>Identify Important Categories</vt:lpstr>
      <vt:lpstr>Regression </vt:lpstr>
      <vt:lpstr>Regression </vt:lpstr>
      <vt:lpstr>Regression </vt:lpstr>
      <vt:lpstr>Regression </vt:lpstr>
      <vt:lpstr>Combining Multiple Classifiers</vt:lpstr>
      <vt:lpstr>Evaluation</vt:lpstr>
      <vt:lpstr>Evaluation – Identifying Important Features</vt:lpstr>
      <vt:lpstr>Evaluation – Identifying Important Features</vt:lpstr>
      <vt:lpstr>Evaluation – Identifying Important Features</vt:lpstr>
      <vt:lpstr>Evaluation – Identifying Important Features</vt:lpstr>
      <vt:lpstr>Evaluation – Regression</vt:lpstr>
      <vt:lpstr>Evaluation – Regression</vt:lpstr>
      <vt:lpstr>Evaluation – Regression</vt:lpstr>
      <vt:lpstr>Evaluation – Number of Classifiers</vt:lpstr>
      <vt:lpstr>Evaluation – Number of Classifiers</vt:lpstr>
      <vt:lpstr>Evaluation – Number of Classifiers</vt:lpstr>
      <vt:lpstr>Contributions</vt:lpstr>
      <vt:lpstr>Thank You!</vt:lpstr>
      <vt:lpstr>Backup Slides</vt:lpstr>
      <vt:lpstr>PowerPoint Presentation</vt:lpstr>
      <vt:lpstr>Twitter</vt:lpstr>
      <vt:lpstr>Interpreting Anomaly - Location</vt:lpstr>
      <vt:lpstr>Describing the Anomaly</vt:lpstr>
      <vt:lpstr>How to Select Parameters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Microsoft</cp:lastModifiedBy>
  <cp:revision>485</cp:revision>
  <dcterms:created xsi:type="dcterms:W3CDTF">2013-03-28T01:05:05Z</dcterms:created>
  <dcterms:modified xsi:type="dcterms:W3CDTF">2013-04-17T12:36:53Z</dcterms:modified>
</cp:coreProperties>
</file>